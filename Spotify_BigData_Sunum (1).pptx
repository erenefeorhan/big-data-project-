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Başlık Metni"/>
          <p:cNvSpPr txBox="1"/>
          <p:nvPr>
            <p:ph type="title"/>
          </p:nvPr>
        </p:nvSpPr>
        <p:spPr>
          <a:xfrm>
            <a:off x="685800" y="2130425"/>
            <a:ext cx="7772400" cy="1470025"/>
          </a:xfrm>
          <a:prstGeom prst="rect">
            <a:avLst/>
          </a:prstGeom>
        </p:spPr>
        <p:txBody>
          <a:bodyPr/>
          <a:lstStyle/>
          <a:p>
            <a:pPr/>
            <a:r>
              <a:t>Başlık Metni</a:t>
            </a:r>
          </a:p>
        </p:txBody>
      </p:sp>
      <p:sp>
        <p:nvSpPr>
          <p:cNvPr id="12" name="Gövde Düzeyi Bir…"/>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Gövde Düzeyi Bir</a:t>
            </a:r>
          </a:p>
          <a:p>
            <a:pPr lvl="1"/>
            <a:r>
              <a:t>Gövde Düzeyi İki</a:t>
            </a:r>
          </a:p>
          <a:p>
            <a:pPr lvl="2"/>
            <a:r>
              <a:t>Gövde Düzeyi Üç</a:t>
            </a:r>
          </a:p>
          <a:p>
            <a:pPr lvl="3"/>
            <a:r>
              <a:t>Gövde Düzeyi Dört</a:t>
            </a:r>
          </a:p>
          <a:p>
            <a:pPr lvl="4"/>
            <a:r>
              <a:t>Gövde Düzeyi Beş</a:t>
            </a:r>
          </a:p>
        </p:txBody>
      </p:sp>
      <p:sp>
        <p:nvSpPr>
          <p:cNvPr id="13"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Başlık Metni"/>
          <p:cNvSpPr txBox="1"/>
          <p:nvPr>
            <p:ph type="title"/>
          </p:nvPr>
        </p:nvSpPr>
        <p:spPr>
          <a:xfrm>
            <a:off x="457200" y="274638"/>
            <a:ext cx="8229600" cy="1143001"/>
          </a:xfrm>
          <a:prstGeom prst="rect">
            <a:avLst/>
          </a:prstGeom>
        </p:spPr>
        <p:txBody>
          <a:bodyPr/>
          <a:lstStyle/>
          <a:p>
            <a:pPr/>
            <a:r>
              <a:t>Başlık Metni</a:t>
            </a:r>
          </a:p>
        </p:txBody>
      </p:sp>
      <p:sp>
        <p:nvSpPr>
          <p:cNvPr id="21" name="Gövde Düzeyi Bir…"/>
          <p:cNvSpPr txBox="1"/>
          <p:nvPr>
            <p:ph type="body" idx="1"/>
          </p:nvPr>
        </p:nvSpPr>
        <p:spPr>
          <a:xfrm>
            <a:off x="457200" y="1600200"/>
            <a:ext cx="8229600" cy="4525963"/>
          </a:xfrm>
          <a:prstGeom prst="rect">
            <a:avLst/>
          </a:prstGeom>
        </p:spPr>
        <p:txBody>
          <a:bodyPr/>
          <a:lstStyle/>
          <a:p>
            <a:pPr/>
            <a:r>
              <a:t>Gövde Düzeyi Bir</a:t>
            </a:r>
          </a:p>
          <a:p>
            <a:pPr lvl="1"/>
            <a:r>
              <a:t>Gövde Düzeyi İki</a:t>
            </a:r>
          </a:p>
          <a:p>
            <a:pPr lvl="2"/>
            <a:r>
              <a:t>Gövde Düzeyi Üç</a:t>
            </a:r>
          </a:p>
          <a:p>
            <a:pPr lvl="3"/>
            <a:r>
              <a:t>Gövde Düzeyi Dört</a:t>
            </a:r>
          </a:p>
          <a:p>
            <a:pPr lvl="4"/>
            <a:r>
              <a:t>Gövde Düzeyi Beş</a:t>
            </a:r>
          </a:p>
        </p:txBody>
      </p:sp>
      <p:sp>
        <p:nvSpPr>
          <p:cNvPr id="22"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Başlık Metni"/>
          <p:cNvSpPr txBox="1"/>
          <p:nvPr>
            <p:ph type="title"/>
          </p:nvPr>
        </p:nvSpPr>
        <p:spPr>
          <a:xfrm>
            <a:off x="722312" y="4406900"/>
            <a:ext cx="7772401" cy="1362075"/>
          </a:xfrm>
          <a:prstGeom prst="rect">
            <a:avLst/>
          </a:prstGeom>
        </p:spPr>
        <p:txBody>
          <a:bodyPr anchor="t"/>
          <a:lstStyle>
            <a:lvl1pPr algn="l">
              <a:defRPr b="1" cap="all" sz="4000"/>
            </a:lvl1pPr>
          </a:lstStyle>
          <a:p>
            <a:pPr/>
            <a:r>
              <a:t>Başlık Metni</a:t>
            </a:r>
          </a:p>
        </p:txBody>
      </p:sp>
      <p:sp>
        <p:nvSpPr>
          <p:cNvPr id="30" name="Gövde Düzeyi Bir…"/>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Gövde Düzeyi Bir</a:t>
            </a:r>
          </a:p>
          <a:p>
            <a:pPr lvl="1"/>
            <a:r>
              <a:t>Gövde Düzeyi İki</a:t>
            </a:r>
          </a:p>
          <a:p>
            <a:pPr lvl="2"/>
            <a:r>
              <a:t>Gövde Düzeyi Üç</a:t>
            </a:r>
          </a:p>
          <a:p>
            <a:pPr lvl="3"/>
            <a:r>
              <a:t>Gövde Düzeyi Dört</a:t>
            </a:r>
          </a:p>
          <a:p>
            <a:pPr lvl="4"/>
            <a:r>
              <a:t>Gövde Düzeyi Beş</a:t>
            </a:r>
          </a:p>
        </p:txBody>
      </p:sp>
      <p:sp>
        <p:nvSpPr>
          <p:cNvPr id="31"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Başlık Metni"/>
          <p:cNvSpPr txBox="1"/>
          <p:nvPr>
            <p:ph type="title"/>
          </p:nvPr>
        </p:nvSpPr>
        <p:spPr>
          <a:xfrm>
            <a:off x="457200" y="274638"/>
            <a:ext cx="8229600" cy="1143001"/>
          </a:xfrm>
          <a:prstGeom prst="rect">
            <a:avLst/>
          </a:prstGeom>
        </p:spPr>
        <p:txBody>
          <a:bodyPr/>
          <a:lstStyle/>
          <a:p>
            <a:pPr/>
            <a:r>
              <a:t>Başlık Metni</a:t>
            </a:r>
          </a:p>
        </p:txBody>
      </p:sp>
      <p:sp>
        <p:nvSpPr>
          <p:cNvPr id="39" name="Gövde Düzeyi Bir…"/>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Gövde Düzeyi Bir</a:t>
            </a:r>
          </a:p>
          <a:p>
            <a:pPr lvl="1"/>
            <a:r>
              <a:t>Gövde Düzeyi İki</a:t>
            </a:r>
          </a:p>
          <a:p>
            <a:pPr lvl="2"/>
            <a:r>
              <a:t>Gövde Düzeyi Üç</a:t>
            </a:r>
          </a:p>
          <a:p>
            <a:pPr lvl="3"/>
            <a:r>
              <a:t>Gövde Düzeyi Dört</a:t>
            </a:r>
          </a:p>
          <a:p>
            <a:pPr lvl="4"/>
            <a:r>
              <a:t>Gövde Düzeyi Beş</a:t>
            </a:r>
          </a:p>
        </p:txBody>
      </p:sp>
      <p:sp>
        <p:nvSpPr>
          <p:cNvPr id="40"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Başlık Metni"/>
          <p:cNvSpPr txBox="1"/>
          <p:nvPr>
            <p:ph type="title"/>
          </p:nvPr>
        </p:nvSpPr>
        <p:spPr>
          <a:xfrm>
            <a:off x="457200" y="274638"/>
            <a:ext cx="8229600" cy="1143001"/>
          </a:xfrm>
          <a:prstGeom prst="rect">
            <a:avLst/>
          </a:prstGeom>
        </p:spPr>
        <p:txBody>
          <a:bodyPr/>
          <a:lstStyle/>
          <a:p>
            <a:pPr/>
            <a:r>
              <a:t>Başlık Metni</a:t>
            </a:r>
          </a:p>
        </p:txBody>
      </p:sp>
      <p:sp>
        <p:nvSpPr>
          <p:cNvPr id="48" name="Gövde Düzeyi Bir…"/>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Gövde Düzeyi Bir</a:t>
            </a:r>
          </a:p>
          <a:p>
            <a:pPr lvl="1"/>
            <a:r>
              <a:t>Gövde Düzeyi İki</a:t>
            </a:r>
          </a:p>
          <a:p>
            <a:pPr lvl="2"/>
            <a:r>
              <a:t>Gövde Düzeyi Üç</a:t>
            </a:r>
          </a:p>
          <a:p>
            <a:pPr lvl="3"/>
            <a:r>
              <a:t>Gövde Düzeyi Dört</a:t>
            </a:r>
          </a:p>
          <a:p>
            <a:pPr lvl="4"/>
            <a:r>
              <a:t>Gövde Düzeyi Beş</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Başlık Metni"/>
          <p:cNvSpPr txBox="1"/>
          <p:nvPr>
            <p:ph type="title"/>
          </p:nvPr>
        </p:nvSpPr>
        <p:spPr>
          <a:xfrm>
            <a:off x="457200" y="274638"/>
            <a:ext cx="8229600" cy="1143001"/>
          </a:xfrm>
          <a:prstGeom prst="rect">
            <a:avLst/>
          </a:prstGeom>
        </p:spPr>
        <p:txBody>
          <a:bodyPr/>
          <a:lstStyle/>
          <a:p>
            <a:pPr/>
            <a:r>
              <a:t>Başlık Metni</a:t>
            </a:r>
          </a:p>
        </p:txBody>
      </p:sp>
      <p:sp>
        <p:nvSpPr>
          <p:cNvPr id="58"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Başlık Metni"/>
          <p:cNvSpPr txBox="1"/>
          <p:nvPr>
            <p:ph type="title"/>
          </p:nvPr>
        </p:nvSpPr>
        <p:spPr>
          <a:xfrm>
            <a:off x="457200" y="273050"/>
            <a:ext cx="3008314" cy="1162050"/>
          </a:xfrm>
          <a:prstGeom prst="rect">
            <a:avLst/>
          </a:prstGeom>
        </p:spPr>
        <p:txBody>
          <a:bodyPr anchor="b"/>
          <a:lstStyle>
            <a:lvl1pPr algn="l">
              <a:defRPr b="1" sz="2000"/>
            </a:lvl1pPr>
          </a:lstStyle>
          <a:p>
            <a:pPr/>
            <a:r>
              <a:t>Başlık Metni</a:t>
            </a:r>
          </a:p>
        </p:txBody>
      </p:sp>
      <p:sp>
        <p:nvSpPr>
          <p:cNvPr id="73" name="Gövde Düzeyi Bir…"/>
          <p:cNvSpPr txBox="1"/>
          <p:nvPr>
            <p:ph type="body" sz="half" idx="1"/>
          </p:nvPr>
        </p:nvSpPr>
        <p:spPr>
          <a:xfrm>
            <a:off x="3575050" y="273050"/>
            <a:ext cx="5111750" cy="5853113"/>
          </a:xfrm>
          <a:prstGeom prst="rect">
            <a:avLst/>
          </a:prstGeom>
        </p:spPr>
        <p:txBody>
          <a:bodyPr/>
          <a:lstStyle/>
          <a:p>
            <a:pPr/>
            <a:r>
              <a:t>Gövde Düzeyi Bir</a:t>
            </a:r>
          </a:p>
          <a:p>
            <a:pPr lvl="1"/>
            <a:r>
              <a:t>Gövde Düzeyi İki</a:t>
            </a:r>
          </a:p>
          <a:p>
            <a:pPr lvl="2"/>
            <a:r>
              <a:t>Gövde Düzeyi Üç</a:t>
            </a:r>
          </a:p>
          <a:p>
            <a:pPr lvl="3"/>
            <a:r>
              <a:t>Gövde Düzeyi Dört</a:t>
            </a:r>
          </a:p>
          <a:p>
            <a:pPr lvl="4"/>
            <a:r>
              <a:t>Gövde Düzeyi Beş</a:t>
            </a:r>
          </a:p>
        </p:txBody>
      </p:sp>
      <p:sp>
        <p:nvSpPr>
          <p:cNvPr id="74" name="Text Placeholder 3"/>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Başlık Metni"/>
          <p:cNvSpPr txBox="1"/>
          <p:nvPr>
            <p:ph type="title"/>
          </p:nvPr>
        </p:nvSpPr>
        <p:spPr>
          <a:xfrm>
            <a:off x="1792288" y="4800600"/>
            <a:ext cx="5486401" cy="566738"/>
          </a:xfrm>
          <a:prstGeom prst="rect">
            <a:avLst/>
          </a:prstGeom>
        </p:spPr>
        <p:txBody>
          <a:bodyPr anchor="b"/>
          <a:lstStyle>
            <a:lvl1pPr algn="l">
              <a:defRPr b="1" sz="2000"/>
            </a:lvl1pPr>
          </a:lstStyle>
          <a:p>
            <a:pPr/>
            <a:r>
              <a:t>Başlık Metni</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Gövde Düzeyi Bir…"/>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Gövde Düzeyi Bir</a:t>
            </a:r>
          </a:p>
          <a:p>
            <a:pPr lvl="1"/>
            <a:r>
              <a:t>Gövde Düzeyi İki</a:t>
            </a:r>
          </a:p>
          <a:p>
            <a:pPr lvl="2"/>
            <a:r>
              <a:t>Gövde Düzeyi Üç</a:t>
            </a:r>
          </a:p>
          <a:p>
            <a:pPr lvl="3"/>
            <a:r>
              <a:t>Gövde Düzeyi Dört</a:t>
            </a:r>
          </a:p>
          <a:p>
            <a:pPr lvl="4"/>
            <a:r>
              <a:t>Gövde Düzeyi Beş</a:t>
            </a:r>
          </a:p>
        </p:txBody>
      </p:sp>
      <p:sp>
        <p:nvSpPr>
          <p:cNvPr id="85" name="Slayt Numarası"/>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Başlık Metni"/>
          <p:cNvSpPr txBox="1"/>
          <p:nvPr>
            <p:ph type="title"/>
          </p:nvPr>
        </p:nvSpPr>
        <p:spPr>
          <a:xfrm>
            <a:off x="608965" y="92074"/>
            <a:ext cx="1096137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Başlık Metni</a:t>
            </a:r>
          </a:p>
        </p:txBody>
      </p:sp>
      <p:sp>
        <p:nvSpPr>
          <p:cNvPr id="3" name="Gövde Düzeyi Bir…"/>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Gövde Düzeyi Bir</a:t>
            </a:r>
          </a:p>
          <a:p>
            <a:pPr lvl="1"/>
            <a:r>
              <a:t>Gövde Düzeyi İki</a:t>
            </a:r>
          </a:p>
          <a:p>
            <a:pPr lvl="2"/>
            <a:r>
              <a:t>Gövde Düzeyi Üç</a:t>
            </a:r>
          </a:p>
          <a:p>
            <a:pPr lvl="3"/>
            <a:r>
              <a:t>Gövde Düzeyi Dört</a:t>
            </a:r>
          </a:p>
          <a:p>
            <a:pPr lvl="4"/>
            <a:r>
              <a:t>Gövde Düzeyi Beş</a:t>
            </a:r>
          </a:p>
        </p:txBody>
      </p:sp>
      <p:sp>
        <p:nvSpPr>
          <p:cNvPr id="4" name="Slayt Numarası"/>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Rectangle 1"/>
          <p:cNvSpPr/>
          <p:nvPr/>
        </p:nvSpPr>
        <p:spPr>
          <a:xfrm>
            <a:off x="-1" y="0"/>
            <a:ext cx="12191697" cy="6858000"/>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95" name="Rectangle 2"/>
          <p:cNvSpPr/>
          <p:nvPr/>
        </p:nvSpPr>
        <p:spPr>
          <a:xfrm>
            <a:off x="-1" y="0"/>
            <a:ext cx="548642" cy="6858000"/>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96" name="TextBox 3"/>
          <p:cNvSpPr txBox="1"/>
          <p:nvPr/>
        </p:nvSpPr>
        <p:spPr>
          <a:xfrm>
            <a:off x="914399" y="731519"/>
            <a:ext cx="10820097"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FFFFFF"/>
                </a:solidFill>
              </a:defRPr>
            </a:lvl1pPr>
          </a:lstStyle>
          <a:p>
            <a:pPr/>
            <a:r>
              <a:t>BÜYÜK VERİ ANALİZİNE GİRİŞ  </a:t>
            </a:r>
          </a:p>
        </p:txBody>
      </p:sp>
      <p:sp>
        <p:nvSpPr>
          <p:cNvPr id="97" name="TextBox 4"/>
          <p:cNvSpPr txBox="1"/>
          <p:nvPr/>
        </p:nvSpPr>
        <p:spPr>
          <a:xfrm>
            <a:off x="914399" y="1463039"/>
            <a:ext cx="10820097" cy="56247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400">
                <a:solidFill>
                  <a:srgbClr val="FFFFFF"/>
                </a:solidFill>
              </a:defRPr>
            </a:lvl1pPr>
          </a:lstStyle>
          <a:p>
            <a:pPr/>
            <a:r>
              <a:t>Spotify Big Data Pipeline</a:t>
            </a:r>
          </a:p>
        </p:txBody>
      </p:sp>
      <p:sp>
        <p:nvSpPr>
          <p:cNvPr id="98" name="TextBox 5"/>
          <p:cNvSpPr txBox="1"/>
          <p:nvPr/>
        </p:nvSpPr>
        <p:spPr>
          <a:xfrm>
            <a:off x="914399" y="2560320"/>
            <a:ext cx="10820097" cy="24874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FFFFFF"/>
                </a:solidFill>
              </a:defRPr>
            </a:lvl1pPr>
          </a:lstStyle>
          <a:p>
            <a:pPr/>
            <a:r>
              <a:t>Uçtan Uca Büyük Veri Projesi: Docker + Streaming + ML Pipeline</a:t>
            </a:r>
          </a:p>
        </p:txBody>
      </p:sp>
      <p:sp>
        <p:nvSpPr>
          <p:cNvPr id="99" name="Rectangle 6"/>
          <p:cNvSpPr/>
          <p:nvPr/>
        </p:nvSpPr>
        <p:spPr>
          <a:xfrm>
            <a:off x="914400" y="3383279"/>
            <a:ext cx="2286000" cy="20001"/>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100" name="TextBox 7"/>
          <p:cNvSpPr txBox="1"/>
          <p:nvPr/>
        </p:nvSpPr>
        <p:spPr>
          <a:xfrm>
            <a:off x="914399" y="3611879"/>
            <a:ext cx="10820097"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FFFFFF"/>
                </a:solidFill>
              </a:defRPr>
            </a:lvl1pPr>
          </a:lstStyle>
          <a:p>
            <a:pPr/>
            <a:r>
              <a:t>Veri Seti: Spotify Tracks Dataset  |  Problem Turu: Regresyon</a:t>
            </a:r>
          </a:p>
        </p:txBody>
      </p:sp>
      <p:sp>
        <p:nvSpPr>
          <p:cNvPr id="101" name="TextBox 8"/>
          <p:cNvSpPr txBox="1"/>
          <p:nvPr/>
        </p:nvSpPr>
        <p:spPr>
          <a:xfrm>
            <a:off x="914399" y="4069079"/>
            <a:ext cx="10820097"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FFFFFF"/>
                </a:solidFill>
              </a:defRPr>
            </a:lvl1pPr>
          </a:lstStyle>
          <a:p>
            <a:pPr/>
            <a:r>
              <a:t>Hedef Değişken: popularity (0-100)</a:t>
            </a:r>
          </a:p>
        </p:txBody>
      </p:sp>
      <p:sp>
        <p:nvSpPr>
          <p:cNvPr id="102" name="TextBox 9"/>
          <p:cNvSpPr txBox="1"/>
          <p:nvPr/>
        </p:nvSpPr>
        <p:spPr>
          <a:xfrm>
            <a:off x="914399" y="5669279"/>
            <a:ext cx="10820097" cy="875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FFFFFF"/>
                </a:solidFill>
              </a:defRPr>
            </a:pPr>
            <a:r>
              <a:t>220202044 İclal Dere</a:t>
            </a:r>
          </a:p>
          <a:p>
            <a:pPr>
              <a:defRPr sz="1400">
                <a:solidFill>
                  <a:srgbClr val="FFFFFF"/>
                </a:solidFill>
              </a:defRPr>
            </a:pPr>
            <a:r>
              <a:t>220202089 İrem Çınar</a:t>
            </a:r>
          </a:p>
          <a:p>
            <a:pPr>
              <a:defRPr sz="1400">
                <a:solidFill>
                  <a:srgbClr val="FFFFFF"/>
                </a:solidFill>
              </a:defRPr>
            </a:pPr>
            <a:r>
              <a:t>220202045 Nil Tuna Yalçın</a:t>
            </a:r>
          </a:p>
          <a:p>
            <a:pPr>
              <a:defRPr sz="1400">
                <a:solidFill>
                  <a:srgbClr val="FFFFFF"/>
                </a:solidFill>
              </a:defRPr>
            </a:pPr>
            <a:r>
              <a:t>220202086 Eren Efe Orhan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105"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106"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Sunum İçeriği</a:t>
            </a:r>
          </a:p>
        </p:txBody>
      </p:sp>
      <p:sp>
        <p:nvSpPr>
          <p:cNvPr id="107"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108"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109"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2 / 20</a:t>
            </a:r>
          </a:p>
        </p:txBody>
      </p:sp>
      <p:sp>
        <p:nvSpPr>
          <p:cNvPr id="110" name="TextBox 8"/>
          <p:cNvSpPr txBox="1"/>
          <p:nvPr/>
        </p:nvSpPr>
        <p:spPr>
          <a:xfrm>
            <a:off x="640080" y="1280160"/>
            <a:ext cx="5486401" cy="244252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600">
                <a:solidFill>
                  <a:srgbClr val="2E865F"/>
                </a:solidFill>
              </a:defRPr>
            </a:pPr>
            <a:r>
              <a:t>■  </a:t>
            </a:r>
            <a:r>
              <a:rPr b="0">
                <a:solidFill>
                  <a:srgbClr val="222222"/>
                </a:solidFill>
              </a:rPr>
              <a:t>1. Proje Amacı ve Hedef</a:t>
            </a:r>
            <a:endParaRPr b="0">
              <a:solidFill>
                <a:srgbClr val="222222"/>
              </a:solidFill>
            </a:endParaRPr>
          </a:p>
          <a:p>
            <a:pPr>
              <a:lnSpc>
                <a:spcPct val="115000"/>
              </a:lnSpc>
              <a:spcBef>
                <a:spcPts val="400"/>
              </a:spcBef>
              <a:defRPr b="1" sz="1600">
                <a:solidFill>
                  <a:srgbClr val="2E865F"/>
                </a:solidFill>
              </a:defRPr>
            </a:pPr>
            <a:r>
              <a:t>■  </a:t>
            </a:r>
            <a:r>
              <a:rPr b="0">
                <a:solidFill>
                  <a:srgbClr val="222222"/>
                </a:solidFill>
              </a:rPr>
              <a:t>2. Veri Seti: Spotify Tracks</a:t>
            </a:r>
            <a:endParaRPr b="0">
              <a:solidFill>
                <a:srgbClr val="222222"/>
              </a:solidFill>
            </a:endParaRPr>
          </a:p>
          <a:p>
            <a:pPr>
              <a:lnSpc>
                <a:spcPct val="115000"/>
              </a:lnSpc>
              <a:spcBef>
                <a:spcPts val="400"/>
              </a:spcBef>
              <a:defRPr b="1" sz="1600">
                <a:solidFill>
                  <a:srgbClr val="2E865F"/>
                </a:solidFill>
              </a:defRPr>
            </a:pPr>
            <a:r>
              <a:t>■  </a:t>
            </a:r>
            <a:r>
              <a:rPr b="0">
                <a:solidFill>
                  <a:srgbClr val="222222"/>
                </a:solidFill>
              </a:rPr>
              <a:t>3. Sistem Mimarisi</a:t>
            </a:r>
            <a:endParaRPr b="0">
              <a:solidFill>
                <a:srgbClr val="222222"/>
              </a:solidFill>
            </a:endParaRPr>
          </a:p>
          <a:p>
            <a:pPr>
              <a:lnSpc>
                <a:spcPct val="115000"/>
              </a:lnSpc>
              <a:spcBef>
                <a:spcPts val="400"/>
              </a:spcBef>
              <a:defRPr b="1" sz="1600">
                <a:solidFill>
                  <a:srgbClr val="2E865F"/>
                </a:solidFill>
              </a:defRPr>
            </a:pPr>
            <a:r>
              <a:t>■  </a:t>
            </a:r>
            <a:r>
              <a:rPr b="0">
                <a:solidFill>
                  <a:srgbClr val="222222"/>
                </a:solidFill>
              </a:rPr>
              <a:t>4. Kullanılan Teknolojiler</a:t>
            </a:r>
            <a:endParaRPr b="0">
              <a:solidFill>
                <a:srgbClr val="222222"/>
              </a:solidFill>
            </a:endParaRPr>
          </a:p>
          <a:p>
            <a:pPr>
              <a:lnSpc>
                <a:spcPct val="115000"/>
              </a:lnSpc>
              <a:spcBef>
                <a:spcPts val="400"/>
              </a:spcBef>
              <a:defRPr b="1" sz="1600">
                <a:solidFill>
                  <a:srgbClr val="2E865F"/>
                </a:solidFill>
              </a:defRPr>
            </a:pPr>
            <a:r>
              <a:t>■  </a:t>
            </a:r>
            <a:r>
              <a:rPr b="0">
                <a:solidFill>
                  <a:srgbClr val="222222"/>
                </a:solidFill>
              </a:rPr>
              <a:t>5. Adım 1 - Docker Ortamı</a:t>
            </a:r>
            <a:endParaRPr b="0">
              <a:solidFill>
                <a:srgbClr val="222222"/>
              </a:solidFill>
            </a:endParaRPr>
          </a:p>
          <a:p>
            <a:pPr>
              <a:lnSpc>
                <a:spcPct val="115000"/>
              </a:lnSpc>
              <a:spcBef>
                <a:spcPts val="400"/>
              </a:spcBef>
              <a:defRPr b="1" sz="1600">
                <a:solidFill>
                  <a:srgbClr val="2E865F"/>
                </a:solidFill>
              </a:defRPr>
            </a:pPr>
            <a:r>
              <a:t>■  </a:t>
            </a:r>
            <a:r>
              <a:rPr b="0">
                <a:solidFill>
                  <a:srgbClr val="222222"/>
                </a:solidFill>
              </a:rPr>
              <a:t>6. Adım 2 - Kafka Streaming</a:t>
            </a:r>
            <a:endParaRPr b="0">
              <a:solidFill>
                <a:srgbClr val="222222"/>
              </a:solidFill>
            </a:endParaRPr>
          </a:p>
          <a:p>
            <a:pPr>
              <a:lnSpc>
                <a:spcPct val="115000"/>
              </a:lnSpc>
              <a:spcBef>
                <a:spcPts val="400"/>
              </a:spcBef>
              <a:defRPr b="1" sz="1600">
                <a:solidFill>
                  <a:srgbClr val="2E865F"/>
                </a:solidFill>
              </a:defRPr>
            </a:pPr>
            <a:r>
              <a:t>■  </a:t>
            </a:r>
            <a:r>
              <a:rPr b="0">
                <a:solidFill>
                  <a:srgbClr val="222222"/>
                </a:solidFill>
              </a:rPr>
              <a:t>7. Adım 3 - Spark + Delta Lake</a:t>
            </a:r>
          </a:p>
        </p:txBody>
      </p:sp>
      <p:sp>
        <p:nvSpPr>
          <p:cNvPr id="111" name="TextBox 9"/>
          <p:cNvSpPr txBox="1"/>
          <p:nvPr/>
        </p:nvSpPr>
        <p:spPr>
          <a:xfrm>
            <a:off x="6400800" y="1280160"/>
            <a:ext cx="5486400" cy="244252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600">
                <a:solidFill>
                  <a:srgbClr val="2E865F"/>
                </a:solidFill>
              </a:defRPr>
            </a:pPr>
            <a:r>
              <a:t>■  </a:t>
            </a:r>
            <a:r>
              <a:rPr b="0">
                <a:solidFill>
                  <a:srgbClr val="222222"/>
                </a:solidFill>
              </a:rPr>
              <a:t>8.  Adım 4 - Keşifsel Veri Analizi (EDA)</a:t>
            </a:r>
            <a:endParaRPr b="0">
              <a:solidFill>
                <a:srgbClr val="222222"/>
              </a:solidFill>
            </a:endParaRPr>
          </a:p>
          <a:p>
            <a:pPr>
              <a:lnSpc>
                <a:spcPct val="115000"/>
              </a:lnSpc>
              <a:spcBef>
                <a:spcPts val="400"/>
              </a:spcBef>
              <a:defRPr b="1" sz="1600">
                <a:solidFill>
                  <a:srgbClr val="2E865F"/>
                </a:solidFill>
              </a:defRPr>
            </a:pPr>
            <a:r>
              <a:t>■  </a:t>
            </a:r>
            <a:r>
              <a:rPr b="0">
                <a:solidFill>
                  <a:srgbClr val="222222"/>
                </a:solidFill>
              </a:rPr>
              <a:t>9.  Adım 5 - Özellik Mühendisliği</a:t>
            </a:r>
            <a:endParaRPr b="0">
              <a:solidFill>
                <a:srgbClr val="222222"/>
              </a:solidFill>
            </a:endParaRPr>
          </a:p>
          <a:p>
            <a:pPr>
              <a:lnSpc>
                <a:spcPct val="115000"/>
              </a:lnSpc>
              <a:spcBef>
                <a:spcPts val="400"/>
              </a:spcBef>
              <a:defRPr b="1" sz="1600">
                <a:solidFill>
                  <a:srgbClr val="2E865F"/>
                </a:solidFill>
              </a:defRPr>
            </a:pPr>
            <a:r>
              <a:t>■  </a:t>
            </a:r>
            <a:r>
              <a:rPr b="0">
                <a:solidFill>
                  <a:srgbClr val="222222"/>
                </a:solidFill>
              </a:rPr>
              <a:t>10. Adım 6 - Makine Öğrenmesi Modelleri</a:t>
            </a:r>
            <a:endParaRPr b="0">
              <a:solidFill>
                <a:srgbClr val="222222"/>
              </a:solidFill>
            </a:endParaRPr>
          </a:p>
          <a:p>
            <a:pPr>
              <a:lnSpc>
                <a:spcPct val="115000"/>
              </a:lnSpc>
              <a:spcBef>
                <a:spcPts val="400"/>
              </a:spcBef>
              <a:defRPr b="1" sz="1600">
                <a:solidFill>
                  <a:srgbClr val="2E865F"/>
                </a:solidFill>
              </a:defRPr>
            </a:pPr>
            <a:r>
              <a:t>■  </a:t>
            </a:r>
            <a:r>
              <a:rPr b="0">
                <a:solidFill>
                  <a:srgbClr val="222222"/>
                </a:solidFill>
              </a:rPr>
              <a:t>11. Adım 6 - Model Karşılaştırma</a:t>
            </a:r>
            <a:endParaRPr b="0">
              <a:solidFill>
                <a:srgbClr val="222222"/>
              </a:solidFill>
            </a:endParaRPr>
          </a:p>
          <a:p>
            <a:pPr>
              <a:lnSpc>
                <a:spcPct val="115000"/>
              </a:lnSpc>
              <a:spcBef>
                <a:spcPts val="400"/>
              </a:spcBef>
              <a:defRPr b="1" sz="1600">
                <a:solidFill>
                  <a:srgbClr val="2E865F"/>
                </a:solidFill>
              </a:defRPr>
            </a:pPr>
            <a:r>
              <a:t>■  </a:t>
            </a:r>
            <a:r>
              <a:rPr b="0">
                <a:solidFill>
                  <a:srgbClr val="222222"/>
                </a:solidFill>
              </a:rPr>
              <a:t>12. MLflow Deney Takibi</a:t>
            </a:r>
            <a:endParaRPr b="0">
              <a:solidFill>
                <a:srgbClr val="222222"/>
              </a:solidFill>
            </a:endParaRPr>
          </a:p>
          <a:p>
            <a:pPr>
              <a:lnSpc>
                <a:spcPct val="115000"/>
              </a:lnSpc>
              <a:spcBef>
                <a:spcPts val="400"/>
              </a:spcBef>
              <a:defRPr b="1" sz="1600">
                <a:solidFill>
                  <a:srgbClr val="2E865F"/>
                </a:solidFill>
              </a:defRPr>
            </a:pPr>
            <a:r>
              <a:t>■  </a:t>
            </a:r>
            <a:r>
              <a:rPr b="0">
                <a:solidFill>
                  <a:srgbClr val="222222"/>
                </a:solidFill>
              </a:rPr>
              <a:t>13. Adım 7 - Dashboard ve Görselleştirme</a:t>
            </a:r>
            <a:endParaRPr b="0">
              <a:solidFill>
                <a:srgbClr val="222222"/>
              </a:solidFill>
            </a:endParaRPr>
          </a:p>
          <a:p>
            <a:pPr>
              <a:lnSpc>
                <a:spcPct val="115000"/>
              </a:lnSpc>
              <a:spcBef>
                <a:spcPts val="400"/>
              </a:spcBef>
              <a:defRPr b="1" sz="1600">
                <a:solidFill>
                  <a:srgbClr val="2E865F"/>
                </a:solidFill>
              </a:defRPr>
            </a:pPr>
            <a:r>
              <a:t>■  </a:t>
            </a:r>
            <a:r>
              <a:rPr b="0">
                <a:solidFill>
                  <a:srgbClr val="222222"/>
                </a:solidFill>
              </a:rPr>
              <a:t>14. Sonuç ve Karşılaşılan Zorluklar</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114"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115"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Proje Amacı</a:t>
            </a:r>
          </a:p>
        </p:txBody>
      </p:sp>
      <p:sp>
        <p:nvSpPr>
          <p:cNvPr id="116"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Bolum 1  |  Genel Çerçeve</a:t>
            </a:r>
          </a:p>
        </p:txBody>
      </p:sp>
      <p:sp>
        <p:nvSpPr>
          <p:cNvPr id="117"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118"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119"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3 / 20</a:t>
            </a:r>
          </a:p>
        </p:txBody>
      </p:sp>
      <p:sp>
        <p:nvSpPr>
          <p:cNvPr id="120" name="TextBox 8"/>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Uçtan uca büyük veri pipeline inşası</a:t>
            </a:r>
          </a:p>
        </p:txBody>
      </p:sp>
      <p:sp>
        <p:nvSpPr>
          <p:cNvPr id="121" name="TextBox 9"/>
          <p:cNvSpPr txBox="1"/>
          <p:nvPr/>
        </p:nvSpPr>
        <p:spPr>
          <a:xfrm>
            <a:off x="640079" y="1463039"/>
            <a:ext cx="10911537" cy="6437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222222"/>
                </a:solidFill>
              </a:defRPr>
            </a:lvl1pPr>
          </a:lstStyle>
          <a:p>
            <a:pPr/>
            <a:r>
              <a:t>Bu projede gerçek dünya senaryosuna uygun, Docker ile konteynerize edilmiş bir ortamda uçtan uca bir büyük veri pipeline'i kurulmuştur. Apache Kafka ile streaming veri üretimi, Apache Spark Structured Streaming ile veri işleme, Delta Lake ile katmanlı depolama, Spark MLlib ile makine öğrenmesi modelleme ve MLflow ile deney takibi aşamaları tek bir üretim akışı içerisinde birleştirilmiştir.</a:t>
            </a:r>
          </a:p>
        </p:txBody>
      </p:sp>
      <p:sp>
        <p:nvSpPr>
          <p:cNvPr id="122" name="TextBox 10"/>
          <p:cNvSpPr txBox="1"/>
          <p:nvPr/>
        </p:nvSpPr>
        <p:spPr>
          <a:xfrm>
            <a:off x="640079" y="3474720"/>
            <a:ext cx="1091153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Temel Hedefler</a:t>
            </a:r>
          </a:p>
        </p:txBody>
      </p:sp>
      <p:sp>
        <p:nvSpPr>
          <p:cNvPr id="123" name="TextBox 11"/>
          <p:cNvSpPr txBox="1"/>
          <p:nvPr/>
        </p:nvSpPr>
        <p:spPr>
          <a:xfrm>
            <a:off x="822960" y="3886200"/>
            <a:ext cx="10545776" cy="160809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400">
                <a:solidFill>
                  <a:srgbClr val="2E865F"/>
                </a:solidFill>
              </a:defRPr>
            </a:pPr>
            <a:r>
              <a:t>■  </a:t>
            </a:r>
            <a:r>
              <a:rPr b="0">
                <a:solidFill>
                  <a:srgbClr val="222222"/>
                </a:solidFill>
              </a:rPr>
              <a:t>Endüstriyel standartlara uygun bir veri mühendisliği ve veri bilimi projesi geliştirmek.</a:t>
            </a:r>
            <a:endParaRPr b="0">
              <a:solidFill>
                <a:srgbClr val="222222"/>
              </a:solidFill>
            </a:endParaRPr>
          </a:p>
          <a:p>
            <a:pPr>
              <a:lnSpc>
                <a:spcPct val="115000"/>
              </a:lnSpc>
              <a:spcBef>
                <a:spcPts val="400"/>
              </a:spcBef>
              <a:defRPr b="1" sz="1400">
                <a:solidFill>
                  <a:srgbClr val="2E865F"/>
                </a:solidFill>
              </a:defRPr>
            </a:pPr>
            <a:r>
              <a:t>■  </a:t>
            </a:r>
            <a:r>
              <a:rPr b="0">
                <a:solidFill>
                  <a:srgbClr val="222222"/>
                </a:solidFill>
              </a:rPr>
              <a:t>Büyük veri ekosistemindeki farklı teknolojileri (Kafka, Spark, Delta, MLflow) bir arada kullanmak.</a:t>
            </a:r>
            <a:endParaRPr b="0">
              <a:solidFill>
                <a:srgbClr val="222222"/>
              </a:solidFill>
            </a:endParaRPr>
          </a:p>
          <a:p>
            <a:pPr>
              <a:lnSpc>
                <a:spcPct val="115000"/>
              </a:lnSpc>
              <a:spcBef>
                <a:spcPts val="400"/>
              </a:spcBef>
              <a:defRPr b="1" sz="1400">
                <a:solidFill>
                  <a:srgbClr val="2E865F"/>
                </a:solidFill>
              </a:defRPr>
            </a:pPr>
            <a:r>
              <a:t>■  </a:t>
            </a:r>
            <a:r>
              <a:rPr b="0">
                <a:solidFill>
                  <a:srgbClr val="222222"/>
                </a:solidFill>
              </a:rPr>
              <a:t>Bronze / Silver / Gold katmanlı mimari ile veri kalitesini aşama aşama artırmak.</a:t>
            </a:r>
            <a:endParaRPr b="0">
              <a:solidFill>
                <a:srgbClr val="222222"/>
              </a:solidFill>
            </a:endParaRPr>
          </a:p>
          <a:p>
            <a:pPr>
              <a:lnSpc>
                <a:spcPct val="115000"/>
              </a:lnSpc>
              <a:spcBef>
                <a:spcPts val="400"/>
              </a:spcBef>
              <a:defRPr b="1" sz="1400">
                <a:solidFill>
                  <a:srgbClr val="2E865F"/>
                </a:solidFill>
              </a:defRPr>
            </a:pPr>
            <a:r>
              <a:t>■  </a:t>
            </a:r>
            <a:r>
              <a:rPr b="0">
                <a:solidFill>
                  <a:srgbClr val="222222"/>
                </a:solidFill>
              </a:rPr>
              <a:t>Spotify şarkılarının popularity değerini regresyon modelleri ile tahmin etmek ve modelleri karşılaştırmak.</a:t>
            </a:r>
            <a:endParaRPr b="0">
              <a:solidFill>
                <a:srgbClr val="222222"/>
              </a:solidFill>
            </a:endParaRPr>
          </a:p>
          <a:p>
            <a:pPr>
              <a:lnSpc>
                <a:spcPct val="115000"/>
              </a:lnSpc>
              <a:spcBef>
                <a:spcPts val="400"/>
              </a:spcBef>
              <a:defRPr b="1" sz="1400">
                <a:solidFill>
                  <a:srgbClr val="2E865F"/>
                </a:solidFill>
              </a:defRPr>
            </a:pPr>
            <a:r>
              <a:t>■  </a:t>
            </a:r>
            <a:r>
              <a:rPr b="0">
                <a:solidFill>
                  <a:srgbClr val="222222"/>
                </a:solidFill>
              </a:rPr>
              <a:t>Tüm sonuçları MLflow üzerinde loglayıp dashboard aracılığıyla yorumlanabilir hale getirmek.</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126"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127"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Veri Seti: Spotify Tracks</a:t>
            </a:r>
          </a:p>
        </p:txBody>
      </p:sp>
      <p:sp>
        <p:nvSpPr>
          <p:cNvPr id="128"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Bolum 2  |  Veri Tanıtımı</a:t>
            </a:r>
          </a:p>
        </p:txBody>
      </p:sp>
      <p:sp>
        <p:nvSpPr>
          <p:cNvPr id="129"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130"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131"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4 / 20</a:t>
            </a:r>
          </a:p>
        </p:txBody>
      </p:sp>
      <p:sp>
        <p:nvSpPr>
          <p:cNvPr id="132" name="TextBox 8"/>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Kaggle - Spotify Tracks Dataset (~1.2M şarkı)</a:t>
            </a:r>
          </a:p>
        </p:txBody>
      </p:sp>
      <p:sp>
        <p:nvSpPr>
          <p:cNvPr id="133" name="TextBox 9"/>
          <p:cNvSpPr txBox="1"/>
          <p:nvPr/>
        </p:nvSpPr>
        <p:spPr>
          <a:xfrm>
            <a:off x="640080" y="1463039"/>
            <a:ext cx="5486401"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Veri Seti Özellikleri</a:t>
            </a:r>
          </a:p>
        </p:txBody>
      </p:sp>
      <p:sp>
        <p:nvSpPr>
          <p:cNvPr id="134" name="TextBox 10"/>
          <p:cNvSpPr txBox="1"/>
          <p:nvPr/>
        </p:nvSpPr>
        <p:spPr>
          <a:xfrm>
            <a:off x="822960" y="1874518"/>
            <a:ext cx="5486401" cy="16080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400">
                <a:solidFill>
                  <a:srgbClr val="2E865F"/>
                </a:solidFill>
              </a:defRPr>
            </a:pPr>
            <a:r>
              <a:t>■  </a:t>
            </a:r>
            <a:r>
              <a:rPr b="0">
                <a:solidFill>
                  <a:srgbClr val="222222"/>
                </a:solidFill>
              </a:rPr>
              <a:t>Kaynak: Kaggle - Spotify Tracks Dataset</a:t>
            </a:r>
            <a:endParaRPr b="0">
              <a:solidFill>
                <a:srgbClr val="222222"/>
              </a:solidFill>
            </a:endParaRPr>
          </a:p>
          <a:p>
            <a:pPr>
              <a:lnSpc>
                <a:spcPct val="115000"/>
              </a:lnSpc>
              <a:spcBef>
                <a:spcPts val="400"/>
              </a:spcBef>
              <a:defRPr b="1" sz="1400">
                <a:solidFill>
                  <a:srgbClr val="2E865F"/>
                </a:solidFill>
              </a:defRPr>
            </a:pPr>
            <a:r>
              <a:t>■  </a:t>
            </a:r>
            <a:r>
              <a:rPr b="0">
                <a:solidFill>
                  <a:srgbClr val="222222"/>
                </a:solidFill>
              </a:rPr>
              <a:t>Boyut: ~1.2M sarki (proje için örnek alt küme kullanıldı)</a:t>
            </a:r>
            <a:endParaRPr b="0">
              <a:solidFill>
                <a:srgbClr val="222222"/>
              </a:solidFill>
            </a:endParaRPr>
          </a:p>
          <a:p>
            <a:pPr>
              <a:lnSpc>
                <a:spcPct val="115000"/>
              </a:lnSpc>
              <a:spcBef>
                <a:spcPts val="400"/>
              </a:spcBef>
              <a:defRPr b="1" sz="1400">
                <a:solidFill>
                  <a:srgbClr val="2E865F"/>
                </a:solidFill>
              </a:defRPr>
            </a:pPr>
            <a:r>
              <a:t>■  </a:t>
            </a:r>
            <a:r>
              <a:rPr b="0">
                <a:solidFill>
                  <a:srgbClr val="222222"/>
                </a:solidFill>
              </a:rPr>
              <a:t>Format: CSV (data/spotify_tracks.csv)</a:t>
            </a:r>
            <a:endParaRPr b="0">
              <a:solidFill>
                <a:srgbClr val="222222"/>
              </a:solidFill>
            </a:endParaRPr>
          </a:p>
          <a:p>
            <a:pPr>
              <a:lnSpc>
                <a:spcPct val="115000"/>
              </a:lnSpc>
              <a:spcBef>
                <a:spcPts val="400"/>
              </a:spcBef>
              <a:defRPr b="1" sz="1400">
                <a:solidFill>
                  <a:srgbClr val="2E865F"/>
                </a:solidFill>
              </a:defRPr>
            </a:pPr>
            <a:r>
              <a:t>■  </a:t>
            </a:r>
            <a:r>
              <a:rPr b="0">
                <a:solidFill>
                  <a:srgbClr val="222222"/>
                </a:solidFill>
              </a:rPr>
              <a:t>Hedef Değişken: popularity (0-100)</a:t>
            </a:r>
            <a:endParaRPr b="0">
              <a:solidFill>
                <a:srgbClr val="222222"/>
              </a:solidFill>
            </a:endParaRPr>
          </a:p>
          <a:p>
            <a:pPr>
              <a:lnSpc>
                <a:spcPct val="115000"/>
              </a:lnSpc>
              <a:spcBef>
                <a:spcPts val="400"/>
              </a:spcBef>
              <a:defRPr b="1" sz="1400">
                <a:solidFill>
                  <a:srgbClr val="2E865F"/>
                </a:solidFill>
              </a:defRPr>
            </a:pPr>
            <a:r>
              <a:t>■  </a:t>
            </a:r>
            <a:r>
              <a:rPr b="0">
                <a:solidFill>
                  <a:srgbClr val="222222"/>
                </a:solidFill>
              </a:rPr>
              <a:t>Problem Türü: Regresyon</a:t>
            </a:r>
          </a:p>
        </p:txBody>
      </p:sp>
      <p:sp>
        <p:nvSpPr>
          <p:cNvPr id="135" name="TextBox 11"/>
          <p:cNvSpPr txBox="1"/>
          <p:nvPr/>
        </p:nvSpPr>
        <p:spPr>
          <a:xfrm>
            <a:off x="640080" y="4160520"/>
            <a:ext cx="54864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Neden Bu Veri Seti?</a:t>
            </a:r>
          </a:p>
        </p:txBody>
      </p:sp>
      <p:sp>
        <p:nvSpPr>
          <p:cNvPr id="136" name="TextBox 12"/>
          <p:cNvSpPr txBox="1"/>
          <p:nvPr/>
        </p:nvSpPr>
        <p:spPr>
          <a:xfrm>
            <a:off x="822960" y="4572000"/>
            <a:ext cx="5486401" cy="9154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400">
                <a:solidFill>
                  <a:srgbClr val="2E865F"/>
                </a:solidFill>
              </a:defRPr>
            </a:pPr>
            <a:r>
              <a:t>■  </a:t>
            </a:r>
            <a:r>
              <a:rPr b="0">
                <a:solidFill>
                  <a:srgbClr val="222222"/>
                </a:solidFill>
              </a:rPr>
              <a:t>Sayısal özellikler regresyon problemine uygundur.</a:t>
            </a:r>
            <a:endParaRPr b="0">
              <a:solidFill>
                <a:srgbClr val="222222"/>
              </a:solidFill>
            </a:endParaRPr>
          </a:p>
          <a:p>
            <a:pPr>
              <a:lnSpc>
                <a:spcPct val="115000"/>
              </a:lnSpc>
              <a:spcBef>
                <a:spcPts val="400"/>
              </a:spcBef>
              <a:defRPr b="1" sz="1400">
                <a:solidFill>
                  <a:srgbClr val="2E865F"/>
                </a:solidFill>
              </a:defRPr>
            </a:pPr>
            <a:r>
              <a:t>■  </a:t>
            </a:r>
            <a:r>
              <a:rPr b="0">
                <a:solidFill>
                  <a:srgbClr val="222222"/>
                </a:solidFill>
              </a:rPr>
              <a:t>Kategorik (genre) ve sayısal değişkenler dengelidir.</a:t>
            </a:r>
            <a:endParaRPr b="0">
              <a:solidFill>
                <a:srgbClr val="222222"/>
              </a:solidFill>
            </a:endParaRPr>
          </a:p>
          <a:p>
            <a:pPr>
              <a:lnSpc>
                <a:spcPct val="115000"/>
              </a:lnSpc>
              <a:spcBef>
                <a:spcPts val="400"/>
              </a:spcBef>
              <a:defRPr b="1" sz="1400">
                <a:solidFill>
                  <a:srgbClr val="2E865F"/>
                </a:solidFill>
              </a:defRPr>
            </a:pPr>
            <a:r>
              <a:t>■  </a:t>
            </a:r>
            <a:r>
              <a:rPr b="0">
                <a:solidFill>
                  <a:srgbClr val="222222"/>
                </a:solidFill>
              </a:rPr>
              <a:t>Streaming simulasyonu için satır bazlı okuma kolaydır.</a:t>
            </a:r>
          </a:p>
        </p:txBody>
      </p:sp>
      <p:sp>
        <p:nvSpPr>
          <p:cNvPr id="137" name="Rectangle 13"/>
          <p:cNvSpPr/>
          <p:nvPr/>
        </p:nvSpPr>
        <p:spPr>
          <a:xfrm>
            <a:off x="6583680" y="1463039"/>
            <a:ext cx="5029201" cy="4754881"/>
          </a:xfrm>
          <a:prstGeom prst="rect">
            <a:avLst/>
          </a:prstGeom>
          <a:solidFill>
            <a:srgbClr val="F5F5F7"/>
          </a:solidFill>
          <a:ln w="12700">
            <a:miter lim="400000"/>
          </a:ln>
        </p:spPr>
        <p:txBody>
          <a:bodyPr lIns="45719" rIns="45719" anchor="ctr"/>
          <a:lstStyle/>
          <a:p>
            <a:pPr algn="ctr">
              <a:defRPr>
                <a:solidFill>
                  <a:srgbClr val="FFFFFF"/>
                </a:solidFill>
              </a:defRPr>
            </a:pPr>
          </a:p>
        </p:txBody>
      </p:sp>
      <p:sp>
        <p:nvSpPr>
          <p:cNvPr id="138" name="TextBox 14"/>
          <p:cNvSpPr txBox="1"/>
          <p:nvPr/>
        </p:nvSpPr>
        <p:spPr>
          <a:xfrm>
            <a:off x="6720840" y="1554480"/>
            <a:ext cx="484632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Önemli Kolonlar</a:t>
            </a:r>
          </a:p>
        </p:txBody>
      </p:sp>
      <p:sp>
        <p:nvSpPr>
          <p:cNvPr id="139" name="TextBox 15"/>
          <p:cNvSpPr txBox="1"/>
          <p:nvPr/>
        </p:nvSpPr>
        <p:spPr>
          <a:xfrm>
            <a:off x="6720840" y="1965960"/>
            <a:ext cx="155448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4A6B8A"/>
                </a:solidFill>
              </a:defRPr>
            </a:lvl1pPr>
          </a:lstStyle>
          <a:p>
            <a:pPr/>
            <a:r>
              <a:t>Tanımlayıcı</a:t>
            </a:r>
          </a:p>
        </p:txBody>
      </p:sp>
      <p:sp>
        <p:nvSpPr>
          <p:cNvPr id="140" name="TextBox 16"/>
          <p:cNvSpPr txBox="1"/>
          <p:nvPr/>
        </p:nvSpPr>
        <p:spPr>
          <a:xfrm>
            <a:off x="8321040" y="1965960"/>
            <a:ext cx="324612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22222"/>
                </a:solidFill>
              </a:defRPr>
            </a:lvl1pPr>
          </a:lstStyle>
          <a:p>
            <a:pPr/>
            <a:r>
              <a:t>track_id, track_name, artists, album_name</a:t>
            </a:r>
          </a:p>
        </p:txBody>
      </p:sp>
      <p:sp>
        <p:nvSpPr>
          <p:cNvPr id="141" name="TextBox 17"/>
          <p:cNvSpPr txBox="1"/>
          <p:nvPr/>
        </p:nvSpPr>
        <p:spPr>
          <a:xfrm>
            <a:off x="6720840" y="2514600"/>
            <a:ext cx="155448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4A6B8A"/>
                </a:solidFill>
              </a:defRPr>
            </a:lvl1pPr>
          </a:lstStyle>
          <a:p>
            <a:pPr/>
            <a:r>
              <a:t>Hedef</a:t>
            </a:r>
          </a:p>
        </p:txBody>
      </p:sp>
      <p:sp>
        <p:nvSpPr>
          <p:cNvPr id="142" name="TextBox 18"/>
          <p:cNvSpPr txBox="1"/>
          <p:nvPr/>
        </p:nvSpPr>
        <p:spPr>
          <a:xfrm>
            <a:off x="8321040" y="2514600"/>
            <a:ext cx="324612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22222"/>
                </a:solidFill>
              </a:defRPr>
            </a:lvl1pPr>
          </a:lstStyle>
          <a:p>
            <a:pPr/>
            <a:r>
              <a:t>popularity (0-100)</a:t>
            </a:r>
          </a:p>
        </p:txBody>
      </p:sp>
      <p:sp>
        <p:nvSpPr>
          <p:cNvPr id="143" name="TextBox 19"/>
          <p:cNvSpPr txBox="1"/>
          <p:nvPr/>
        </p:nvSpPr>
        <p:spPr>
          <a:xfrm>
            <a:off x="6720840" y="3063239"/>
            <a:ext cx="155448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4A6B8A"/>
                </a:solidFill>
              </a:defRPr>
            </a:lvl1pPr>
          </a:lstStyle>
          <a:p>
            <a:pPr/>
            <a:r>
              <a:t>Süre</a:t>
            </a:r>
          </a:p>
        </p:txBody>
      </p:sp>
      <p:sp>
        <p:nvSpPr>
          <p:cNvPr id="144" name="TextBox 20"/>
          <p:cNvSpPr txBox="1"/>
          <p:nvPr/>
        </p:nvSpPr>
        <p:spPr>
          <a:xfrm>
            <a:off x="8321040" y="3063239"/>
            <a:ext cx="32461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22222"/>
                </a:solidFill>
              </a:defRPr>
            </a:lvl1pPr>
          </a:lstStyle>
          <a:p>
            <a:pPr/>
            <a:r>
              <a:t>duration_ms</a:t>
            </a:r>
          </a:p>
        </p:txBody>
      </p:sp>
      <p:sp>
        <p:nvSpPr>
          <p:cNvPr id="145" name="TextBox 21"/>
          <p:cNvSpPr txBox="1"/>
          <p:nvPr/>
        </p:nvSpPr>
        <p:spPr>
          <a:xfrm>
            <a:off x="6720840" y="3611879"/>
            <a:ext cx="155448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4A6B8A"/>
                </a:solidFill>
              </a:defRPr>
            </a:lvl1pPr>
          </a:lstStyle>
          <a:p>
            <a:pPr/>
            <a:r>
              <a:t>Ses Özellikleri</a:t>
            </a:r>
          </a:p>
        </p:txBody>
      </p:sp>
      <p:sp>
        <p:nvSpPr>
          <p:cNvPr id="146" name="TextBox 22"/>
          <p:cNvSpPr txBox="1"/>
          <p:nvPr/>
        </p:nvSpPr>
        <p:spPr>
          <a:xfrm>
            <a:off x="8321040" y="3611879"/>
            <a:ext cx="32461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22222"/>
                </a:solidFill>
              </a:defRPr>
            </a:lvl1pPr>
          </a:lstStyle>
          <a:p>
            <a:pPr/>
            <a:r>
              <a:t>danceability, energy, loudness, tempo</a:t>
            </a:r>
          </a:p>
        </p:txBody>
      </p:sp>
      <p:sp>
        <p:nvSpPr>
          <p:cNvPr id="147" name="TextBox 23"/>
          <p:cNvSpPr txBox="1"/>
          <p:nvPr/>
        </p:nvSpPr>
        <p:spPr>
          <a:xfrm>
            <a:off x="6720840" y="4160520"/>
            <a:ext cx="155448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4A6B8A"/>
                </a:solidFill>
              </a:defRPr>
            </a:lvl1pPr>
          </a:lstStyle>
          <a:p>
            <a:pPr/>
            <a:r>
              <a:t>İçerik</a:t>
            </a:r>
          </a:p>
        </p:txBody>
      </p:sp>
      <p:sp>
        <p:nvSpPr>
          <p:cNvPr id="148" name="TextBox 24"/>
          <p:cNvSpPr txBox="1"/>
          <p:nvPr/>
        </p:nvSpPr>
        <p:spPr>
          <a:xfrm>
            <a:off x="8321040" y="4160520"/>
            <a:ext cx="324612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22222"/>
                </a:solidFill>
              </a:defRPr>
            </a:lvl1pPr>
          </a:lstStyle>
          <a:p>
            <a:pPr/>
            <a:r>
              <a:t>speechiness, acousticness, instrumentalness</a:t>
            </a:r>
          </a:p>
        </p:txBody>
      </p:sp>
      <p:sp>
        <p:nvSpPr>
          <p:cNvPr id="149" name="TextBox 25"/>
          <p:cNvSpPr txBox="1"/>
          <p:nvPr/>
        </p:nvSpPr>
        <p:spPr>
          <a:xfrm>
            <a:off x="6720840" y="4709159"/>
            <a:ext cx="155448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4A6B8A"/>
                </a:solidFill>
              </a:defRPr>
            </a:lvl1pPr>
          </a:lstStyle>
          <a:p>
            <a:pPr/>
            <a:r>
              <a:t>Duygu/Ton</a:t>
            </a:r>
          </a:p>
        </p:txBody>
      </p:sp>
      <p:sp>
        <p:nvSpPr>
          <p:cNvPr id="150" name="TextBox 26"/>
          <p:cNvSpPr txBox="1"/>
          <p:nvPr/>
        </p:nvSpPr>
        <p:spPr>
          <a:xfrm>
            <a:off x="8321040" y="4709159"/>
            <a:ext cx="32461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22222"/>
                </a:solidFill>
              </a:defRPr>
            </a:lvl1pPr>
          </a:lstStyle>
          <a:p>
            <a:pPr/>
            <a:r>
              <a:t>valence, liveness, mode, key</a:t>
            </a:r>
          </a:p>
        </p:txBody>
      </p:sp>
      <p:sp>
        <p:nvSpPr>
          <p:cNvPr id="151" name="TextBox 27"/>
          <p:cNvSpPr txBox="1"/>
          <p:nvPr/>
        </p:nvSpPr>
        <p:spPr>
          <a:xfrm>
            <a:off x="6720840" y="5257800"/>
            <a:ext cx="155448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4A6B8A"/>
                </a:solidFill>
              </a:defRPr>
            </a:lvl1pPr>
          </a:lstStyle>
          <a:p>
            <a:pPr/>
            <a:r>
              <a:t>Kategorik</a:t>
            </a:r>
          </a:p>
        </p:txBody>
      </p:sp>
      <p:sp>
        <p:nvSpPr>
          <p:cNvPr id="152" name="TextBox 28"/>
          <p:cNvSpPr txBox="1"/>
          <p:nvPr/>
        </p:nvSpPr>
        <p:spPr>
          <a:xfrm>
            <a:off x="8321040" y="5257800"/>
            <a:ext cx="324612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22222"/>
                </a:solidFill>
              </a:defRPr>
            </a:lvl1pPr>
          </a:lstStyle>
          <a:p>
            <a:pPr/>
            <a:r>
              <a:t>track_genre, explicit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155"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156"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Sistem Mimarisi</a:t>
            </a:r>
          </a:p>
        </p:txBody>
      </p:sp>
      <p:sp>
        <p:nvSpPr>
          <p:cNvPr id="157"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Bolum 3  |  Pipeline Akışı</a:t>
            </a:r>
          </a:p>
        </p:txBody>
      </p:sp>
      <p:sp>
        <p:nvSpPr>
          <p:cNvPr id="158"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159"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160"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5 / 20</a:t>
            </a:r>
          </a:p>
        </p:txBody>
      </p:sp>
      <p:sp>
        <p:nvSpPr>
          <p:cNvPr id="161" name="TextBox 8"/>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Uçtan uca veri akışı: kaynak -&gt; işleme -&gt; model -&gt; dashboard</a:t>
            </a:r>
          </a:p>
        </p:txBody>
      </p:sp>
      <p:grpSp>
        <p:nvGrpSpPr>
          <p:cNvPr id="164" name="Rectangle 9"/>
          <p:cNvGrpSpPr/>
          <p:nvPr/>
        </p:nvGrpSpPr>
        <p:grpSpPr>
          <a:xfrm>
            <a:off x="449426" y="1463039"/>
            <a:ext cx="1965961" cy="868681"/>
            <a:chOff x="0" y="0"/>
            <a:chExt cx="1965960" cy="868680"/>
          </a:xfrm>
        </p:grpSpPr>
        <p:sp>
          <p:nvSpPr>
            <p:cNvPr id="162" name="Dikdörtgen"/>
            <p:cNvSpPr/>
            <p:nvPr/>
          </p:nvSpPr>
          <p:spPr>
            <a:xfrm>
              <a:off x="-1" y="-1"/>
              <a:ext cx="1965962" cy="868682"/>
            </a:xfrm>
            <a:prstGeom prst="rect">
              <a:avLst/>
            </a:prstGeom>
            <a:solidFill>
              <a:srgbClr val="F5F5F7"/>
            </a:solidFill>
            <a:ln w="12700" cap="flat">
              <a:solidFill>
                <a:srgbClr val="1F3A5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63" name="Spotify CSV…"/>
            <p:cNvSpPr txBox="1"/>
            <p:nvPr/>
          </p:nvSpPr>
          <p:spPr>
            <a:xfrm>
              <a:off x="33781" y="224834"/>
              <a:ext cx="1898397" cy="4190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sz="1200">
                  <a:solidFill>
                    <a:srgbClr val="1F3A5F"/>
                  </a:solidFill>
                </a:defRPr>
              </a:pPr>
              <a:r>
                <a:t>Spotify CSV</a:t>
              </a:r>
              <a:endParaRPr>
                <a:solidFill>
                  <a:srgbClr val="FFFFFF"/>
                </a:solidFill>
              </a:endParaRPr>
            </a:p>
            <a:p>
              <a:pPr algn="ctr">
                <a:defRPr sz="1000">
                  <a:solidFill>
                    <a:srgbClr val="666666"/>
                  </a:solidFill>
                </a:defRPr>
              </a:pPr>
              <a:r>
                <a:t>Veri Kaynağı</a:t>
              </a:r>
            </a:p>
          </p:txBody>
        </p:sp>
      </p:grpSp>
      <p:sp>
        <p:nvSpPr>
          <p:cNvPr id="165" name="Right Arrow 10"/>
          <p:cNvSpPr/>
          <p:nvPr/>
        </p:nvSpPr>
        <p:spPr>
          <a:xfrm>
            <a:off x="2435387" y="1732788"/>
            <a:ext cx="365760" cy="329185"/>
          </a:xfrm>
          <a:prstGeom prst="rightArrow">
            <a:avLst>
              <a:gd name="adj1" fmla="val 50000"/>
              <a:gd name="adj2" fmla="val 50000"/>
            </a:avLst>
          </a:prstGeom>
          <a:solidFill>
            <a:srgbClr val="4A6B8A"/>
          </a:solidFill>
          <a:ln w="12700">
            <a:miter lim="400000"/>
          </a:ln>
        </p:spPr>
        <p:txBody>
          <a:bodyPr lIns="45719" rIns="45719" anchor="ctr"/>
          <a:lstStyle/>
          <a:p>
            <a:pPr algn="ctr">
              <a:defRPr>
                <a:solidFill>
                  <a:srgbClr val="FFFFFF"/>
                </a:solidFill>
              </a:defRPr>
            </a:pPr>
          </a:p>
        </p:txBody>
      </p:sp>
      <p:grpSp>
        <p:nvGrpSpPr>
          <p:cNvPr id="168" name="Rectangle 11"/>
          <p:cNvGrpSpPr/>
          <p:nvPr/>
        </p:nvGrpSpPr>
        <p:grpSpPr>
          <a:xfrm>
            <a:off x="2781146" y="1463039"/>
            <a:ext cx="1965961" cy="868681"/>
            <a:chOff x="0" y="0"/>
            <a:chExt cx="1965960" cy="868680"/>
          </a:xfrm>
        </p:grpSpPr>
        <p:sp>
          <p:nvSpPr>
            <p:cNvPr id="166" name="Dikdörtgen"/>
            <p:cNvSpPr/>
            <p:nvPr/>
          </p:nvSpPr>
          <p:spPr>
            <a:xfrm>
              <a:off x="-1" y="-1"/>
              <a:ext cx="1965962" cy="868682"/>
            </a:xfrm>
            <a:prstGeom prst="rect">
              <a:avLst/>
            </a:prstGeom>
            <a:solidFill>
              <a:srgbClr val="F5F5F7"/>
            </a:solidFill>
            <a:ln w="12700" cap="flat">
              <a:solidFill>
                <a:srgbClr val="1F3A5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67" name="Python Producer…"/>
            <p:cNvSpPr txBox="1"/>
            <p:nvPr/>
          </p:nvSpPr>
          <p:spPr>
            <a:xfrm>
              <a:off x="33781" y="224834"/>
              <a:ext cx="1898397" cy="4190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sz="1200">
                  <a:solidFill>
                    <a:srgbClr val="1F3A5F"/>
                  </a:solidFill>
                </a:defRPr>
              </a:pPr>
              <a:r>
                <a:t>Python Producer</a:t>
              </a:r>
              <a:endParaRPr>
                <a:solidFill>
                  <a:srgbClr val="FFFFFF"/>
                </a:solidFill>
              </a:endParaRPr>
            </a:p>
            <a:p>
              <a:pPr algn="ctr">
                <a:defRPr sz="1000">
                  <a:solidFill>
                    <a:srgbClr val="666666"/>
                  </a:solidFill>
                </a:defRPr>
              </a:pPr>
              <a:r>
                <a:t>Kafka'ya yazıcı</a:t>
              </a:r>
            </a:p>
          </p:txBody>
        </p:sp>
      </p:grpSp>
      <p:sp>
        <p:nvSpPr>
          <p:cNvPr id="169" name="Right Arrow 12"/>
          <p:cNvSpPr/>
          <p:nvPr/>
        </p:nvSpPr>
        <p:spPr>
          <a:xfrm>
            <a:off x="4767107" y="1732788"/>
            <a:ext cx="365761" cy="329185"/>
          </a:xfrm>
          <a:prstGeom prst="rightArrow">
            <a:avLst>
              <a:gd name="adj1" fmla="val 50000"/>
              <a:gd name="adj2" fmla="val 50000"/>
            </a:avLst>
          </a:prstGeom>
          <a:solidFill>
            <a:srgbClr val="4A6B8A"/>
          </a:solidFill>
          <a:ln w="12700">
            <a:miter lim="400000"/>
          </a:ln>
        </p:spPr>
        <p:txBody>
          <a:bodyPr lIns="45719" rIns="45719" anchor="ctr"/>
          <a:lstStyle/>
          <a:p>
            <a:pPr algn="ctr">
              <a:defRPr>
                <a:solidFill>
                  <a:srgbClr val="FFFFFF"/>
                </a:solidFill>
              </a:defRPr>
            </a:pPr>
          </a:p>
        </p:txBody>
      </p:sp>
      <p:grpSp>
        <p:nvGrpSpPr>
          <p:cNvPr id="172" name="Rectangle 13"/>
          <p:cNvGrpSpPr/>
          <p:nvPr/>
        </p:nvGrpSpPr>
        <p:grpSpPr>
          <a:xfrm>
            <a:off x="5112866" y="1463039"/>
            <a:ext cx="1965962" cy="868681"/>
            <a:chOff x="0" y="0"/>
            <a:chExt cx="1965960" cy="868680"/>
          </a:xfrm>
        </p:grpSpPr>
        <p:sp>
          <p:nvSpPr>
            <p:cNvPr id="170" name="Dikdörtgen"/>
            <p:cNvSpPr/>
            <p:nvPr/>
          </p:nvSpPr>
          <p:spPr>
            <a:xfrm>
              <a:off x="-1" y="-1"/>
              <a:ext cx="1965962" cy="868682"/>
            </a:xfrm>
            <a:prstGeom prst="rect">
              <a:avLst/>
            </a:prstGeom>
            <a:solidFill>
              <a:srgbClr val="F5F5F7"/>
            </a:solidFill>
            <a:ln w="12700" cap="flat">
              <a:solidFill>
                <a:srgbClr val="1F3A5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71" name="Apache Kafka…"/>
            <p:cNvSpPr txBox="1"/>
            <p:nvPr/>
          </p:nvSpPr>
          <p:spPr>
            <a:xfrm>
              <a:off x="33781" y="224834"/>
              <a:ext cx="1898397" cy="4190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sz="1200">
                  <a:solidFill>
                    <a:srgbClr val="1F3A5F"/>
                  </a:solidFill>
                </a:defRPr>
              </a:pPr>
              <a:r>
                <a:t>Apache Kafka</a:t>
              </a:r>
              <a:endParaRPr>
                <a:solidFill>
                  <a:srgbClr val="FFFFFF"/>
                </a:solidFill>
              </a:endParaRPr>
            </a:p>
            <a:p>
              <a:pPr algn="ctr">
                <a:defRPr sz="1000">
                  <a:solidFill>
                    <a:srgbClr val="666666"/>
                  </a:solidFill>
                </a:defRPr>
              </a:pPr>
              <a:r>
                <a:t>spotify_tracks topic</a:t>
              </a:r>
            </a:p>
          </p:txBody>
        </p:sp>
      </p:grpSp>
      <p:sp>
        <p:nvSpPr>
          <p:cNvPr id="173" name="Right Arrow 14"/>
          <p:cNvSpPr/>
          <p:nvPr/>
        </p:nvSpPr>
        <p:spPr>
          <a:xfrm>
            <a:off x="7098827" y="1732788"/>
            <a:ext cx="365761" cy="329185"/>
          </a:xfrm>
          <a:prstGeom prst="rightArrow">
            <a:avLst>
              <a:gd name="adj1" fmla="val 50000"/>
              <a:gd name="adj2" fmla="val 50000"/>
            </a:avLst>
          </a:prstGeom>
          <a:solidFill>
            <a:srgbClr val="4A6B8A"/>
          </a:solidFill>
          <a:ln w="12700">
            <a:miter lim="400000"/>
          </a:ln>
        </p:spPr>
        <p:txBody>
          <a:bodyPr lIns="45719" rIns="45719" anchor="ctr"/>
          <a:lstStyle/>
          <a:p>
            <a:pPr algn="ctr">
              <a:defRPr>
                <a:solidFill>
                  <a:srgbClr val="FFFFFF"/>
                </a:solidFill>
              </a:defRPr>
            </a:pPr>
          </a:p>
        </p:txBody>
      </p:sp>
      <p:grpSp>
        <p:nvGrpSpPr>
          <p:cNvPr id="176" name="Rectangle 15"/>
          <p:cNvGrpSpPr/>
          <p:nvPr/>
        </p:nvGrpSpPr>
        <p:grpSpPr>
          <a:xfrm>
            <a:off x="7444586" y="1463039"/>
            <a:ext cx="1965961" cy="868681"/>
            <a:chOff x="0" y="0"/>
            <a:chExt cx="1965960" cy="868680"/>
          </a:xfrm>
        </p:grpSpPr>
        <p:sp>
          <p:nvSpPr>
            <p:cNvPr id="174" name="Dikdörtgen"/>
            <p:cNvSpPr/>
            <p:nvPr/>
          </p:nvSpPr>
          <p:spPr>
            <a:xfrm>
              <a:off x="-1" y="-1"/>
              <a:ext cx="1965962" cy="868682"/>
            </a:xfrm>
            <a:prstGeom prst="rect">
              <a:avLst/>
            </a:prstGeom>
            <a:solidFill>
              <a:srgbClr val="F5F5F7"/>
            </a:solidFill>
            <a:ln w="12700" cap="flat">
              <a:solidFill>
                <a:srgbClr val="1F3A5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75" name="Spark Streaming…"/>
            <p:cNvSpPr txBox="1"/>
            <p:nvPr/>
          </p:nvSpPr>
          <p:spPr>
            <a:xfrm>
              <a:off x="33781" y="224834"/>
              <a:ext cx="1898397" cy="4190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sz="1200">
                  <a:solidFill>
                    <a:srgbClr val="1F3A5F"/>
                  </a:solidFill>
                </a:defRPr>
              </a:pPr>
              <a:r>
                <a:t>Spark Streaming</a:t>
              </a:r>
              <a:endParaRPr>
                <a:solidFill>
                  <a:srgbClr val="FFFFFF"/>
                </a:solidFill>
              </a:endParaRPr>
            </a:p>
            <a:p>
              <a:pPr algn="ctr">
                <a:defRPr sz="1000">
                  <a:solidFill>
                    <a:srgbClr val="666666"/>
                  </a:solidFill>
                </a:defRPr>
              </a:pPr>
              <a:r>
                <a:t>Structured Streaming</a:t>
              </a:r>
            </a:p>
          </p:txBody>
        </p:sp>
      </p:grpSp>
      <p:sp>
        <p:nvSpPr>
          <p:cNvPr id="177" name="Right Arrow 16"/>
          <p:cNvSpPr/>
          <p:nvPr/>
        </p:nvSpPr>
        <p:spPr>
          <a:xfrm>
            <a:off x="9430546" y="1732788"/>
            <a:ext cx="365761" cy="329185"/>
          </a:xfrm>
          <a:prstGeom prst="rightArrow">
            <a:avLst>
              <a:gd name="adj1" fmla="val 50000"/>
              <a:gd name="adj2" fmla="val 50000"/>
            </a:avLst>
          </a:prstGeom>
          <a:solidFill>
            <a:srgbClr val="4A6B8A"/>
          </a:solidFill>
          <a:ln w="12700">
            <a:miter lim="400000"/>
          </a:ln>
        </p:spPr>
        <p:txBody>
          <a:bodyPr lIns="45719" rIns="45719" anchor="ctr"/>
          <a:lstStyle/>
          <a:p>
            <a:pPr algn="ctr">
              <a:defRPr>
                <a:solidFill>
                  <a:srgbClr val="FFFFFF"/>
                </a:solidFill>
              </a:defRPr>
            </a:pPr>
          </a:p>
        </p:txBody>
      </p:sp>
      <p:grpSp>
        <p:nvGrpSpPr>
          <p:cNvPr id="180" name="Rectangle 17"/>
          <p:cNvGrpSpPr/>
          <p:nvPr/>
        </p:nvGrpSpPr>
        <p:grpSpPr>
          <a:xfrm>
            <a:off x="9776307" y="1463039"/>
            <a:ext cx="1965961" cy="868681"/>
            <a:chOff x="0" y="0"/>
            <a:chExt cx="1965960" cy="868680"/>
          </a:xfrm>
        </p:grpSpPr>
        <p:sp>
          <p:nvSpPr>
            <p:cNvPr id="178" name="Dikdörtgen"/>
            <p:cNvSpPr/>
            <p:nvPr/>
          </p:nvSpPr>
          <p:spPr>
            <a:xfrm>
              <a:off x="-1" y="-1"/>
              <a:ext cx="1965962" cy="868682"/>
            </a:xfrm>
            <a:prstGeom prst="rect">
              <a:avLst/>
            </a:prstGeom>
            <a:solidFill>
              <a:srgbClr val="F5F5F7"/>
            </a:solidFill>
            <a:ln w="12700" cap="flat">
              <a:solidFill>
                <a:srgbClr val="1F3A5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79" name="Delta Bronze…"/>
            <p:cNvSpPr txBox="1"/>
            <p:nvPr/>
          </p:nvSpPr>
          <p:spPr>
            <a:xfrm>
              <a:off x="33781" y="224834"/>
              <a:ext cx="1898397" cy="4190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sz="1200">
                  <a:solidFill>
                    <a:srgbClr val="1F3A5F"/>
                  </a:solidFill>
                </a:defRPr>
              </a:pPr>
              <a:r>
                <a:t>Delta Bronze</a:t>
              </a:r>
              <a:endParaRPr>
                <a:solidFill>
                  <a:srgbClr val="FFFFFF"/>
                </a:solidFill>
              </a:endParaRPr>
            </a:p>
            <a:p>
              <a:pPr algn="ctr">
                <a:defRPr sz="1000">
                  <a:solidFill>
                    <a:srgbClr val="666666"/>
                  </a:solidFill>
                </a:defRPr>
              </a:pPr>
              <a:r>
                <a:t>Ham + meta veri</a:t>
              </a:r>
            </a:p>
          </p:txBody>
        </p:sp>
      </p:grpSp>
      <p:sp>
        <p:nvSpPr>
          <p:cNvPr id="181" name="Right Arrow 18"/>
          <p:cNvSpPr/>
          <p:nvPr/>
        </p:nvSpPr>
        <p:spPr>
          <a:xfrm>
            <a:off x="11376507" y="2377439"/>
            <a:ext cx="365761" cy="329185"/>
          </a:xfrm>
          <a:prstGeom prst="rightArrow">
            <a:avLst>
              <a:gd name="adj1" fmla="val 50000"/>
              <a:gd name="adj2" fmla="val 50000"/>
            </a:avLst>
          </a:prstGeom>
          <a:solidFill>
            <a:srgbClr val="4A6B8A"/>
          </a:solidFill>
          <a:ln w="12700">
            <a:miter lim="400000"/>
          </a:ln>
        </p:spPr>
        <p:txBody>
          <a:bodyPr lIns="45719" rIns="45719" anchor="ctr"/>
          <a:lstStyle/>
          <a:p>
            <a:pPr algn="ctr">
              <a:defRPr>
                <a:solidFill>
                  <a:srgbClr val="FFFFFF"/>
                </a:solidFill>
              </a:defRPr>
            </a:pPr>
          </a:p>
        </p:txBody>
      </p:sp>
      <p:grpSp>
        <p:nvGrpSpPr>
          <p:cNvPr id="184" name="Rectangle 19"/>
          <p:cNvGrpSpPr/>
          <p:nvPr/>
        </p:nvGrpSpPr>
        <p:grpSpPr>
          <a:xfrm>
            <a:off x="449426" y="3017520"/>
            <a:ext cx="1965961" cy="868681"/>
            <a:chOff x="0" y="0"/>
            <a:chExt cx="1965960" cy="868680"/>
          </a:xfrm>
        </p:grpSpPr>
        <p:sp>
          <p:nvSpPr>
            <p:cNvPr id="182" name="Dikdörtgen"/>
            <p:cNvSpPr/>
            <p:nvPr/>
          </p:nvSpPr>
          <p:spPr>
            <a:xfrm>
              <a:off x="-1" y="-1"/>
              <a:ext cx="1965962" cy="868682"/>
            </a:xfrm>
            <a:prstGeom prst="rect">
              <a:avLst/>
            </a:prstGeom>
            <a:solidFill>
              <a:srgbClr val="FFFFFF"/>
            </a:solidFill>
            <a:ln w="12700" cap="flat">
              <a:solidFill>
                <a:srgbClr val="2E865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83" name="Delta Silver…"/>
            <p:cNvSpPr txBox="1"/>
            <p:nvPr/>
          </p:nvSpPr>
          <p:spPr>
            <a:xfrm>
              <a:off x="33781" y="224834"/>
              <a:ext cx="1898397" cy="4190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sz="1200">
                  <a:solidFill>
                    <a:srgbClr val="2E865F"/>
                  </a:solidFill>
                </a:defRPr>
              </a:pPr>
              <a:r>
                <a:t>Delta Silver</a:t>
              </a:r>
              <a:endParaRPr>
                <a:solidFill>
                  <a:srgbClr val="FFFFFF"/>
                </a:solidFill>
              </a:endParaRPr>
            </a:p>
            <a:p>
              <a:pPr algn="ctr">
                <a:defRPr sz="1000">
                  <a:solidFill>
                    <a:srgbClr val="666666"/>
                  </a:solidFill>
                </a:defRPr>
              </a:pPr>
              <a:r>
                <a:t>Temizlenmiş veri</a:t>
              </a:r>
            </a:p>
          </p:txBody>
        </p:sp>
      </p:grpSp>
      <p:sp>
        <p:nvSpPr>
          <p:cNvPr id="185" name="Right Arrow 20"/>
          <p:cNvSpPr/>
          <p:nvPr/>
        </p:nvSpPr>
        <p:spPr>
          <a:xfrm>
            <a:off x="2435387" y="3287267"/>
            <a:ext cx="365760" cy="329185"/>
          </a:xfrm>
          <a:prstGeom prst="rightArrow">
            <a:avLst>
              <a:gd name="adj1" fmla="val 50000"/>
              <a:gd name="adj2" fmla="val 50000"/>
            </a:avLst>
          </a:prstGeom>
          <a:solidFill>
            <a:srgbClr val="2E865F"/>
          </a:solidFill>
          <a:ln w="12700">
            <a:miter lim="400000"/>
          </a:ln>
        </p:spPr>
        <p:txBody>
          <a:bodyPr lIns="45719" rIns="45719" anchor="ctr"/>
          <a:lstStyle/>
          <a:p>
            <a:pPr algn="ctr">
              <a:defRPr>
                <a:solidFill>
                  <a:srgbClr val="FFFFFF"/>
                </a:solidFill>
              </a:defRPr>
            </a:pPr>
          </a:p>
        </p:txBody>
      </p:sp>
      <p:grpSp>
        <p:nvGrpSpPr>
          <p:cNvPr id="188" name="Rectangle 21"/>
          <p:cNvGrpSpPr/>
          <p:nvPr/>
        </p:nvGrpSpPr>
        <p:grpSpPr>
          <a:xfrm>
            <a:off x="2781146" y="3017520"/>
            <a:ext cx="1965961" cy="868681"/>
            <a:chOff x="0" y="0"/>
            <a:chExt cx="1965960" cy="868680"/>
          </a:xfrm>
        </p:grpSpPr>
        <p:sp>
          <p:nvSpPr>
            <p:cNvPr id="186" name="Dikdörtgen"/>
            <p:cNvSpPr/>
            <p:nvPr/>
          </p:nvSpPr>
          <p:spPr>
            <a:xfrm>
              <a:off x="-1" y="-1"/>
              <a:ext cx="1965962" cy="868682"/>
            </a:xfrm>
            <a:prstGeom prst="rect">
              <a:avLst/>
            </a:prstGeom>
            <a:solidFill>
              <a:srgbClr val="FFFFFF"/>
            </a:solidFill>
            <a:ln w="12700" cap="flat">
              <a:solidFill>
                <a:srgbClr val="2E865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87" name="Delta Gold…"/>
            <p:cNvSpPr txBox="1"/>
            <p:nvPr/>
          </p:nvSpPr>
          <p:spPr>
            <a:xfrm>
              <a:off x="33781" y="224834"/>
              <a:ext cx="1898397" cy="4190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sz="1200">
                  <a:solidFill>
                    <a:srgbClr val="2E865F"/>
                  </a:solidFill>
                </a:defRPr>
              </a:pPr>
              <a:r>
                <a:t>Delta Gold</a:t>
              </a:r>
              <a:endParaRPr>
                <a:solidFill>
                  <a:srgbClr val="FFFFFF"/>
                </a:solidFill>
              </a:endParaRPr>
            </a:p>
            <a:p>
              <a:pPr algn="ctr">
                <a:defRPr sz="1000">
                  <a:solidFill>
                    <a:srgbClr val="666666"/>
                  </a:solidFill>
                </a:defRPr>
              </a:pPr>
              <a:r>
                <a:t>Analytics + Features</a:t>
              </a:r>
            </a:p>
          </p:txBody>
        </p:sp>
      </p:grpSp>
      <p:sp>
        <p:nvSpPr>
          <p:cNvPr id="189" name="Right Arrow 22"/>
          <p:cNvSpPr/>
          <p:nvPr/>
        </p:nvSpPr>
        <p:spPr>
          <a:xfrm>
            <a:off x="4767107" y="3287267"/>
            <a:ext cx="365761" cy="329185"/>
          </a:xfrm>
          <a:prstGeom prst="rightArrow">
            <a:avLst>
              <a:gd name="adj1" fmla="val 50000"/>
              <a:gd name="adj2" fmla="val 50000"/>
            </a:avLst>
          </a:prstGeom>
          <a:solidFill>
            <a:srgbClr val="2E865F"/>
          </a:solidFill>
          <a:ln w="12700">
            <a:miter lim="400000"/>
          </a:ln>
        </p:spPr>
        <p:txBody>
          <a:bodyPr lIns="45719" rIns="45719" anchor="ctr"/>
          <a:lstStyle/>
          <a:p>
            <a:pPr algn="ctr">
              <a:defRPr>
                <a:solidFill>
                  <a:srgbClr val="FFFFFF"/>
                </a:solidFill>
              </a:defRPr>
            </a:pPr>
          </a:p>
        </p:txBody>
      </p:sp>
      <p:grpSp>
        <p:nvGrpSpPr>
          <p:cNvPr id="192" name="Rectangle 23"/>
          <p:cNvGrpSpPr/>
          <p:nvPr/>
        </p:nvGrpSpPr>
        <p:grpSpPr>
          <a:xfrm>
            <a:off x="5112866" y="3017520"/>
            <a:ext cx="1965962" cy="868681"/>
            <a:chOff x="0" y="0"/>
            <a:chExt cx="1965960" cy="868680"/>
          </a:xfrm>
        </p:grpSpPr>
        <p:sp>
          <p:nvSpPr>
            <p:cNvPr id="190" name="Dikdörtgen"/>
            <p:cNvSpPr/>
            <p:nvPr/>
          </p:nvSpPr>
          <p:spPr>
            <a:xfrm>
              <a:off x="-1" y="-1"/>
              <a:ext cx="1965962" cy="868682"/>
            </a:xfrm>
            <a:prstGeom prst="rect">
              <a:avLst/>
            </a:prstGeom>
            <a:solidFill>
              <a:srgbClr val="FFFFFF"/>
            </a:solidFill>
            <a:ln w="12700" cap="flat">
              <a:solidFill>
                <a:srgbClr val="2E865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91" name="EDA &amp; Feature Eng.…"/>
            <p:cNvSpPr txBox="1"/>
            <p:nvPr/>
          </p:nvSpPr>
          <p:spPr>
            <a:xfrm>
              <a:off x="33781" y="224834"/>
              <a:ext cx="1898397" cy="4190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sz="1200">
                  <a:solidFill>
                    <a:srgbClr val="2E865F"/>
                  </a:solidFill>
                </a:defRPr>
              </a:pPr>
              <a:r>
                <a:t>EDA &amp; Feature Eng.</a:t>
              </a:r>
              <a:endParaRPr>
                <a:solidFill>
                  <a:srgbClr val="FFFFFF"/>
                </a:solidFill>
              </a:endParaRPr>
            </a:p>
            <a:p>
              <a:pPr algn="ctr">
                <a:defRPr sz="1000">
                  <a:solidFill>
                    <a:srgbClr val="666666"/>
                  </a:solidFill>
                </a:defRPr>
              </a:pPr>
              <a:r>
                <a:t>Notebook</a:t>
              </a:r>
            </a:p>
          </p:txBody>
        </p:sp>
      </p:grpSp>
      <p:sp>
        <p:nvSpPr>
          <p:cNvPr id="193" name="Right Arrow 24"/>
          <p:cNvSpPr/>
          <p:nvPr/>
        </p:nvSpPr>
        <p:spPr>
          <a:xfrm>
            <a:off x="7098827" y="3287267"/>
            <a:ext cx="365761" cy="329185"/>
          </a:xfrm>
          <a:prstGeom prst="rightArrow">
            <a:avLst>
              <a:gd name="adj1" fmla="val 50000"/>
              <a:gd name="adj2" fmla="val 50000"/>
            </a:avLst>
          </a:prstGeom>
          <a:solidFill>
            <a:srgbClr val="2E865F"/>
          </a:solidFill>
          <a:ln w="12700">
            <a:miter lim="400000"/>
          </a:ln>
        </p:spPr>
        <p:txBody>
          <a:bodyPr lIns="45719" rIns="45719" anchor="ctr"/>
          <a:lstStyle/>
          <a:p>
            <a:pPr algn="ctr">
              <a:defRPr>
                <a:solidFill>
                  <a:srgbClr val="FFFFFF"/>
                </a:solidFill>
              </a:defRPr>
            </a:pPr>
          </a:p>
        </p:txBody>
      </p:sp>
      <p:grpSp>
        <p:nvGrpSpPr>
          <p:cNvPr id="196" name="Rectangle 25"/>
          <p:cNvGrpSpPr/>
          <p:nvPr/>
        </p:nvGrpSpPr>
        <p:grpSpPr>
          <a:xfrm>
            <a:off x="7444586" y="3017520"/>
            <a:ext cx="1965961" cy="868681"/>
            <a:chOff x="0" y="0"/>
            <a:chExt cx="1965960" cy="868680"/>
          </a:xfrm>
        </p:grpSpPr>
        <p:sp>
          <p:nvSpPr>
            <p:cNvPr id="194" name="Dikdörtgen"/>
            <p:cNvSpPr/>
            <p:nvPr/>
          </p:nvSpPr>
          <p:spPr>
            <a:xfrm>
              <a:off x="-1" y="-1"/>
              <a:ext cx="1965962" cy="868682"/>
            </a:xfrm>
            <a:prstGeom prst="rect">
              <a:avLst/>
            </a:prstGeom>
            <a:solidFill>
              <a:srgbClr val="FFFFFF"/>
            </a:solidFill>
            <a:ln w="12700" cap="flat">
              <a:solidFill>
                <a:srgbClr val="2E865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95" name="ML + MLflow…"/>
            <p:cNvSpPr txBox="1"/>
            <p:nvPr/>
          </p:nvSpPr>
          <p:spPr>
            <a:xfrm>
              <a:off x="33781" y="224834"/>
              <a:ext cx="1898397" cy="4190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sz="1200">
                  <a:solidFill>
                    <a:srgbClr val="2E865F"/>
                  </a:solidFill>
                </a:defRPr>
              </a:pPr>
              <a:r>
                <a:t>ML + MLflow</a:t>
              </a:r>
              <a:endParaRPr>
                <a:solidFill>
                  <a:srgbClr val="FFFFFF"/>
                </a:solidFill>
              </a:endParaRPr>
            </a:p>
            <a:p>
              <a:pPr algn="ctr">
                <a:defRPr sz="1000">
                  <a:solidFill>
                    <a:srgbClr val="666666"/>
                  </a:solidFill>
                </a:defRPr>
              </a:pPr>
              <a:r>
                <a:t>5 regresyon modeli</a:t>
              </a:r>
            </a:p>
          </p:txBody>
        </p:sp>
      </p:grpSp>
      <p:sp>
        <p:nvSpPr>
          <p:cNvPr id="197" name="Right Arrow 26"/>
          <p:cNvSpPr/>
          <p:nvPr/>
        </p:nvSpPr>
        <p:spPr>
          <a:xfrm>
            <a:off x="9430546" y="3287267"/>
            <a:ext cx="365761" cy="329185"/>
          </a:xfrm>
          <a:prstGeom prst="rightArrow">
            <a:avLst>
              <a:gd name="adj1" fmla="val 50000"/>
              <a:gd name="adj2" fmla="val 50000"/>
            </a:avLst>
          </a:prstGeom>
          <a:solidFill>
            <a:srgbClr val="2E865F"/>
          </a:solidFill>
          <a:ln w="12700">
            <a:miter lim="400000"/>
          </a:ln>
        </p:spPr>
        <p:txBody>
          <a:bodyPr lIns="45719" rIns="45719" anchor="ctr"/>
          <a:lstStyle/>
          <a:p>
            <a:pPr algn="ctr">
              <a:defRPr>
                <a:solidFill>
                  <a:srgbClr val="FFFFFF"/>
                </a:solidFill>
              </a:defRPr>
            </a:pPr>
          </a:p>
        </p:txBody>
      </p:sp>
      <p:grpSp>
        <p:nvGrpSpPr>
          <p:cNvPr id="200" name="Rectangle 27"/>
          <p:cNvGrpSpPr/>
          <p:nvPr/>
        </p:nvGrpSpPr>
        <p:grpSpPr>
          <a:xfrm>
            <a:off x="9776307" y="3017520"/>
            <a:ext cx="1965961" cy="868681"/>
            <a:chOff x="0" y="0"/>
            <a:chExt cx="1965960" cy="868680"/>
          </a:xfrm>
        </p:grpSpPr>
        <p:sp>
          <p:nvSpPr>
            <p:cNvPr id="198" name="Dikdörtgen"/>
            <p:cNvSpPr/>
            <p:nvPr/>
          </p:nvSpPr>
          <p:spPr>
            <a:xfrm>
              <a:off x="-1" y="-1"/>
              <a:ext cx="1965962" cy="868682"/>
            </a:xfrm>
            <a:prstGeom prst="rect">
              <a:avLst/>
            </a:prstGeom>
            <a:solidFill>
              <a:srgbClr val="FFFFFF"/>
            </a:solidFill>
            <a:ln w="12700" cap="flat">
              <a:solidFill>
                <a:srgbClr val="2E865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199" name="Dashboard…"/>
            <p:cNvSpPr txBox="1"/>
            <p:nvPr/>
          </p:nvSpPr>
          <p:spPr>
            <a:xfrm>
              <a:off x="33781" y="224834"/>
              <a:ext cx="1898397" cy="41901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b="1" sz="1200">
                  <a:solidFill>
                    <a:srgbClr val="2E865F"/>
                  </a:solidFill>
                </a:defRPr>
              </a:pPr>
              <a:r>
                <a:t>Dashboard</a:t>
              </a:r>
              <a:endParaRPr>
                <a:solidFill>
                  <a:srgbClr val="FFFFFF"/>
                </a:solidFill>
              </a:endParaRPr>
            </a:p>
            <a:p>
              <a:pPr algn="ctr">
                <a:defRPr sz="1000">
                  <a:solidFill>
                    <a:srgbClr val="666666"/>
                  </a:solidFill>
                </a:defRPr>
              </a:pPr>
              <a:r>
                <a:t>HTML + Görseller</a:t>
              </a:r>
            </a:p>
          </p:txBody>
        </p:sp>
      </p:grpSp>
      <p:sp>
        <p:nvSpPr>
          <p:cNvPr id="201" name="TextBox 28"/>
          <p:cNvSpPr txBox="1"/>
          <p:nvPr/>
        </p:nvSpPr>
        <p:spPr>
          <a:xfrm>
            <a:off x="640079" y="4297679"/>
            <a:ext cx="10911537"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Katmanlı (Medallion) Mimari</a:t>
            </a:r>
          </a:p>
        </p:txBody>
      </p:sp>
      <p:sp>
        <p:nvSpPr>
          <p:cNvPr id="202" name="TextBox 29"/>
          <p:cNvSpPr txBox="1"/>
          <p:nvPr/>
        </p:nvSpPr>
        <p:spPr>
          <a:xfrm>
            <a:off x="822960" y="4709159"/>
            <a:ext cx="10545776" cy="11946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300">
                <a:solidFill>
                  <a:srgbClr val="2E865F"/>
                </a:solidFill>
              </a:defRPr>
            </a:pPr>
            <a:r>
              <a:t>■  </a:t>
            </a:r>
            <a:r>
              <a:rPr b="0">
                <a:solidFill>
                  <a:srgbClr val="222222"/>
                </a:solidFill>
              </a:rPr>
              <a:t>Bronze: Kafka'dan gelen ham JSON mesajlari, ingestion meta verisi ile birlikte saklanır.</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Silver: Şema doğrulaması, null/duplicate temizliği yapılmış kullanıma hazır veri.</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Gold (Analytics): Tür/zaman bazlı toplulaştırmalar; raporlama için hazırlanmış tablolar.</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Gold (Features): ML icin tasarlanmış özellik tablosu (delta/gold/spotify_tracks_features).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205"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206"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Kullanılan Teknolojiler</a:t>
            </a:r>
          </a:p>
        </p:txBody>
      </p:sp>
      <p:sp>
        <p:nvSpPr>
          <p:cNvPr id="207"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Bolum 4  |  Teknoloji Yığını</a:t>
            </a:r>
          </a:p>
        </p:txBody>
      </p:sp>
      <p:sp>
        <p:nvSpPr>
          <p:cNvPr id="208"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209"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210"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6 / 20</a:t>
            </a:r>
          </a:p>
        </p:txBody>
      </p:sp>
      <p:sp>
        <p:nvSpPr>
          <p:cNvPr id="211" name="TextBox 8"/>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Her katman için sektörde standartlaşmış açık kaynak araçlar</a:t>
            </a:r>
          </a:p>
        </p:txBody>
      </p:sp>
      <p:graphicFrame>
        <p:nvGraphicFramePr>
          <p:cNvPr id="212" name="Table 9"/>
          <p:cNvGraphicFramePr/>
          <p:nvPr/>
        </p:nvGraphicFramePr>
        <p:xfrm>
          <a:off x="640080" y="1417319"/>
          <a:ext cx="10911535" cy="4754881"/>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3637178"/>
                <a:gridCol w="3637178"/>
                <a:gridCol w="3637179"/>
              </a:tblGrid>
              <a:tr h="594360">
                <a:tc>
                  <a:txBody>
                    <a:bodyPr/>
                    <a:lstStyle/>
                    <a:p>
                      <a:pPr algn="ctr">
                        <a:defRPr b="0" sz="1800">
                          <a:solidFill>
                            <a:srgbClr val="000000"/>
                          </a:solidFill>
                        </a:defRPr>
                      </a:pPr>
                      <a:r>
                        <a:rPr b="1" sz="1300">
                          <a:solidFill>
                            <a:srgbClr val="FFFFFF"/>
                          </a:solidFill>
                        </a:rPr>
                        <a:t>Katman</a:t>
                      </a:r>
                    </a:p>
                  </a:txBody>
                  <a:tcPr marL="36576" marR="36576" marT="36576" marB="36576" anchor="t" anchorCtr="0" horzOverflow="overflow">
                    <a:solidFill>
                      <a:srgbClr val="1F3A5F"/>
                    </a:solidFill>
                  </a:tcPr>
                </a:tc>
                <a:tc>
                  <a:txBody>
                    <a:bodyPr/>
                    <a:lstStyle/>
                    <a:p>
                      <a:pPr algn="ctr">
                        <a:defRPr b="0" sz="1800">
                          <a:solidFill>
                            <a:srgbClr val="000000"/>
                          </a:solidFill>
                        </a:defRPr>
                      </a:pPr>
                      <a:r>
                        <a:rPr b="1" sz="1300">
                          <a:solidFill>
                            <a:srgbClr val="FFFFFF"/>
                          </a:solidFill>
                        </a:rPr>
                        <a:t>Teknoloji</a:t>
                      </a:r>
                    </a:p>
                  </a:txBody>
                  <a:tcPr marL="36576" marR="36576" marT="36576" marB="36576" anchor="t" anchorCtr="0" horzOverflow="overflow">
                    <a:solidFill>
                      <a:srgbClr val="1F3A5F"/>
                    </a:solidFill>
                  </a:tcPr>
                </a:tc>
                <a:tc>
                  <a:txBody>
                    <a:bodyPr/>
                    <a:lstStyle/>
                    <a:p>
                      <a:pPr algn="ctr">
                        <a:defRPr b="0" sz="1800">
                          <a:solidFill>
                            <a:srgbClr val="000000"/>
                          </a:solidFill>
                        </a:defRPr>
                      </a:pPr>
                      <a:r>
                        <a:rPr b="1" sz="1300">
                          <a:solidFill>
                            <a:srgbClr val="FFFFFF"/>
                          </a:solidFill>
                        </a:rPr>
                        <a:t>Aciklama</a:t>
                      </a:r>
                    </a:p>
                  </a:txBody>
                  <a:tcPr marL="36576" marR="36576" marT="36576" marB="36576" anchor="t" anchorCtr="0" horzOverflow="overflow">
                    <a:solidFill>
                      <a:srgbClr val="1F3A5F"/>
                    </a:solidFill>
                  </a:tcPr>
                </a:tc>
              </a:tr>
              <a:tr h="594360">
                <a:tc>
                  <a:txBody>
                    <a:bodyPr/>
                    <a:lstStyle/>
                    <a:p>
                      <a:pPr algn="l">
                        <a:defRPr sz="1800"/>
                      </a:pPr>
                      <a:r>
                        <a:rPr sz="1200">
                          <a:solidFill>
                            <a:srgbClr val="222222"/>
                          </a:solidFill>
                        </a:rPr>
                        <a:t>Konteynerizasyon</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Docker, Docker Compose</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Tüm servislerin izole ve tekrarlanabilir çalıştırılması</a:t>
                      </a:r>
                    </a:p>
                  </a:txBody>
                  <a:tcPr marL="36576" marR="36576" marT="36576" marB="36576" anchor="t" anchorCtr="0" horzOverflow="overflow">
                    <a:solidFill>
                      <a:srgbClr val="FFFFFF"/>
                    </a:solidFill>
                  </a:tcPr>
                </a:tc>
              </a:tr>
              <a:tr h="594360">
                <a:tc>
                  <a:txBody>
                    <a:bodyPr/>
                    <a:lstStyle/>
                    <a:p>
                      <a:pPr algn="l">
                        <a:defRPr sz="1800"/>
                      </a:pPr>
                      <a:r>
                        <a:rPr sz="1200">
                          <a:solidFill>
                            <a:srgbClr val="222222"/>
                          </a:solidFill>
                        </a:rPr>
                        <a:t>Veri Üretimi</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Apache Kafka + Python Producer</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Gerçek zamanlı veri akışı simülasyonu</a:t>
                      </a:r>
                    </a:p>
                  </a:txBody>
                  <a:tcPr marL="36576" marR="36576" marT="36576" marB="36576" anchor="t" anchorCtr="0" horzOverflow="overflow">
                    <a:solidFill>
                      <a:srgbClr val="F5F5F7"/>
                    </a:solidFill>
                  </a:tcPr>
                </a:tc>
              </a:tr>
              <a:tr h="594360">
                <a:tc>
                  <a:txBody>
                    <a:bodyPr/>
                    <a:lstStyle/>
                    <a:p>
                      <a:pPr algn="l">
                        <a:defRPr sz="1800"/>
                      </a:pPr>
                      <a:r>
                        <a:rPr sz="1200">
                          <a:solidFill>
                            <a:srgbClr val="222222"/>
                          </a:solidFill>
                        </a:rPr>
                        <a:t>Mesaj Kuyruğu Koordinasyonu</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Apache Zookeeper</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Kafka brokerlerinin yönetimi</a:t>
                      </a:r>
                    </a:p>
                  </a:txBody>
                  <a:tcPr marL="36576" marR="36576" marT="36576" marB="36576" anchor="t" anchorCtr="0" horzOverflow="overflow">
                    <a:solidFill>
                      <a:srgbClr val="FFFFFF"/>
                    </a:solidFill>
                  </a:tcPr>
                </a:tc>
              </a:tr>
              <a:tr h="594360">
                <a:tc>
                  <a:txBody>
                    <a:bodyPr/>
                    <a:lstStyle/>
                    <a:p>
                      <a:pPr algn="l">
                        <a:defRPr sz="1800"/>
                      </a:pPr>
                      <a:r>
                        <a:rPr sz="1200">
                          <a:solidFill>
                            <a:srgbClr val="222222"/>
                          </a:solidFill>
                        </a:rPr>
                        <a:t>Veri İşleme</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Apache Spark (PySpark) Structured Streaming</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Streaming + batch ETL pipeline</a:t>
                      </a:r>
                    </a:p>
                  </a:txBody>
                  <a:tcPr marL="36576" marR="36576" marT="36576" marB="36576" anchor="t" anchorCtr="0" horzOverflow="overflow">
                    <a:solidFill>
                      <a:srgbClr val="F5F5F7"/>
                    </a:solidFill>
                  </a:tcPr>
                </a:tc>
              </a:tr>
              <a:tr h="594360">
                <a:tc>
                  <a:txBody>
                    <a:bodyPr/>
                    <a:lstStyle/>
                    <a:p>
                      <a:pPr algn="l">
                        <a:defRPr sz="1800"/>
                      </a:pPr>
                      <a:r>
                        <a:rPr sz="1200">
                          <a:solidFill>
                            <a:srgbClr val="222222"/>
                          </a:solidFill>
                        </a:rPr>
                        <a:t>Depolama</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Delta Lake (Bronze / Silver / Gold)</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ACID uyumlu, versiyonlanabilir veri deposu</a:t>
                      </a:r>
                    </a:p>
                  </a:txBody>
                  <a:tcPr marL="36576" marR="36576" marT="36576" marB="36576" anchor="t" anchorCtr="0" horzOverflow="overflow">
                    <a:solidFill>
                      <a:srgbClr val="FFFFFF"/>
                    </a:solidFill>
                  </a:tcPr>
                </a:tc>
              </a:tr>
              <a:tr h="594360">
                <a:tc>
                  <a:txBody>
                    <a:bodyPr/>
                    <a:lstStyle/>
                    <a:p>
                      <a:pPr algn="l">
                        <a:defRPr sz="1800"/>
                      </a:pPr>
                      <a:r>
                        <a:rPr sz="1200">
                          <a:solidFill>
                            <a:srgbClr val="222222"/>
                          </a:solidFill>
                        </a:rPr>
                        <a:t>Makine Öğrenmesi</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Spark MLlib + MLflow</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5 regresyon modeli, deney ve metrik takibi</a:t>
                      </a:r>
                    </a:p>
                  </a:txBody>
                  <a:tcPr marL="36576" marR="36576" marT="36576" marB="36576" anchor="t" anchorCtr="0" horzOverflow="overflow">
                    <a:solidFill>
                      <a:srgbClr val="F5F5F7"/>
                    </a:solidFill>
                  </a:tcPr>
                </a:tc>
              </a:tr>
              <a:tr h="594360">
                <a:tc>
                  <a:txBody>
                    <a:bodyPr/>
                    <a:lstStyle/>
                    <a:p>
                      <a:pPr algn="l">
                        <a:defRPr sz="1800"/>
                      </a:pPr>
                      <a:r>
                        <a:rPr sz="1200">
                          <a:solidFill>
                            <a:srgbClr val="222222"/>
                          </a:solidFill>
                        </a:rPr>
                        <a:t>Görselleştirme</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Matplotlib + HTML Dashboard</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EDA + model sonuçları görsel raporu</a:t>
                      </a:r>
                    </a:p>
                  </a:txBody>
                  <a:tcPr marL="36576" marR="36576" marT="36576" marB="36576" anchor="t" anchorCtr="0" horzOverflow="overflow">
                    <a:solidFill>
                      <a:srgbClr val="FFFFFF"/>
                    </a:solidFill>
                  </a:tcPr>
                </a:tc>
              </a:tr>
            </a:tbl>
          </a:graphicData>
        </a:graphic>
      </p:graphicFrame>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215"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216"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Adim 1 — Docker Ortamının Kurulumu</a:t>
            </a:r>
          </a:p>
        </p:txBody>
      </p:sp>
      <p:sp>
        <p:nvSpPr>
          <p:cNvPr id="217"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Bölüm 5  |  Altyapı</a:t>
            </a:r>
          </a:p>
        </p:txBody>
      </p:sp>
      <p:sp>
        <p:nvSpPr>
          <p:cNvPr id="218"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219"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220"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7 / 20</a:t>
            </a:r>
          </a:p>
        </p:txBody>
      </p:sp>
      <p:grpSp>
        <p:nvGrpSpPr>
          <p:cNvPr id="223" name="Rectangle 8"/>
          <p:cNvGrpSpPr/>
          <p:nvPr/>
        </p:nvGrpSpPr>
        <p:grpSpPr>
          <a:xfrm>
            <a:off x="9722815" y="201167"/>
            <a:ext cx="822961" cy="411482"/>
            <a:chOff x="0" y="0"/>
            <a:chExt cx="822960" cy="411480"/>
          </a:xfrm>
        </p:grpSpPr>
        <p:sp>
          <p:nvSpPr>
            <p:cNvPr id="221" name="Dikdörtgen"/>
            <p:cNvSpPr/>
            <p:nvPr/>
          </p:nvSpPr>
          <p:spPr>
            <a:xfrm>
              <a:off x="-1" y="-1"/>
              <a:ext cx="822962" cy="411482"/>
            </a:xfrm>
            <a:prstGeom prst="rect">
              <a:avLst/>
            </a:prstGeom>
            <a:solidFill>
              <a:srgbClr val="2E865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22" name="Adım 1"/>
            <p:cNvSpPr txBox="1"/>
            <p:nvPr/>
          </p:nvSpPr>
          <p:spPr>
            <a:xfrm>
              <a:off x="-1" y="122359"/>
              <a:ext cx="82296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FFFFFF"/>
                  </a:solidFill>
                </a:defRPr>
              </a:lvl1pPr>
            </a:lstStyle>
            <a:p>
              <a:pPr/>
              <a:r>
                <a:t>Adım 1</a:t>
              </a:r>
            </a:p>
          </p:txBody>
        </p:sp>
      </p:grpSp>
      <p:sp>
        <p:nvSpPr>
          <p:cNvPr id="224" name="TextBox 9"/>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Tüm servisler tek bir docker-compose.yml ile ayağa kalkar</a:t>
            </a:r>
          </a:p>
        </p:txBody>
      </p:sp>
      <p:sp>
        <p:nvSpPr>
          <p:cNvPr id="225" name="TextBox 10"/>
          <p:cNvSpPr txBox="1"/>
          <p:nvPr/>
        </p:nvSpPr>
        <p:spPr>
          <a:xfrm>
            <a:off x="640080" y="1417319"/>
            <a:ext cx="5486401"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Ne Yaptık?</a:t>
            </a:r>
          </a:p>
        </p:txBody>
      </p:sp>
      <p:sp>
        <p:nvSpPr>
          <p:cNvPr id="226" name="TextBox 11"/>
          <p:cNvSpPr txBox="1"/>
          <p:nvPr/>
        </p:nvSpPr>
        <p:spPr>
          <a:xfrm>
            <a:off x="822960" y="1828800"/>
            <a:ext cx="5486401" cy="17512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300">
                <a:solidFill>
                  <a:srgbClr val="2E865F"/>
                </a:solidFill>
              </a:defRPr>
            </a:pPr>
            <a:r>
              <a:t>■  </a:t>
            </a:r>
            <a:r>
              <a:rPr b="0">
                <a:solidFill>
                  <a:srgbClr val="222222"/>
                </a:solidFill>
              </a:rPr>
              <a:t>Her servis için ayrı Dockerfile yazıldı (kafka, zookeeper, spark, mlflow, producer).</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docker-compose.yml ile servisler tek komutla ayağa kalkar.</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Producer servisi 'profiles: producer' altında ayrı olarak yönetilir.</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Spark container'i Jupyter Lab dahil edilerek 8888 portuna açıldı.</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MLflow servisi host üzerinde 5001 portuna eşlendi (container 5000).</a:t>
            </a:r>
          </a:p>
        </p:txBody>
      </p:sp>
      <p:sp>
        <p:nvSpPr>
          <p:cNvPr id="227" name="TextBox 12"/>
          <p:cNvSpPr txBox="1"/>
          <p:nvPr/>
        </p:nvSpPr>
        <p:spPr>
          <a:xfrm>
            <a:off x="640080" y="4800600"/>
            <a:ext cx="54864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Çıktı</a:t>
            </a:r>
          </a:p>
        </p:txBody>
      </p:sp>
      <p:sp>
        <p:nvSpPr>
          <p:cNvPr id="228" name="TextBox 13"/>
          <p:cNvSpPr txBox="1"/>
          <p:nvPr/>
        </p:nvSpPr>
        <p:spPr>
          <a:xfrm>
            <a:off x="822960" y="5212079"/>
            <a:ext cx="5486401" cy="766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300">
                <a:solidFill>
                  <a:srgbClr val="2E865F"/>
                </a:solidFill>
              </a:defRPr>
            </a:pPr>
            <a:r>
              <a:t>■  </a:t>
            </a:r>
            <a:r>
              <a:rPr b="0">
                <a:solidFill>
                  <a:srgbClr val="222222"/>
                </a:solidFill>
              </a:rPr>
              <a:t>5 container başarıyla ayakta: spotify_zookeeper, spotify_kafka, spotify_spark, spotify_mlflow, spotify_producer.</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docker ps ve docker logs spotify_producer ile doğrulanır.</a:t>
            </a:r>
          </a:p>
        </p:txBody>
      </p:sp>
      <p:sp>
        <p:nvSpPr>
          <p:cNvPr id="229" name="Rectangle 14"/>
          <p:cNvSpPr/>
          <p:nvPr/>
        </p:nvSpPr>
        <p:spPr>
          <a:xfrm>
            <a:off x="6583680" y="1417319"/>
            <a:ext cx="5029201" cy="5029201"/>
          </a:xfrm>
          <a:prstGeom prst="rect">
            <a:avLst/>
          </a:prstGeom>
          <a:solidFill>
            <a:srgbClr val="F5F5F7"/>
          </a:solidFill>
          <a:ln w="12700">
            <a:miter lim="400000"/>
          </a:ln>
        </p:spPr>
        <p:txBody>
          <a:bodyPr lIns="45719" rIns="45719" anchor="ctr"/>
          <a:lstStyle/>
          <a:p>
            <a:pPr algn="ctr">
              <a:defRPr>
                <a:solidFill>
                  <a:srgbClr val="FFFFFF"/>
                </a:solidFill>
              </a:defRPr>
            </a:pPr>
          </a:p>
        </p:txBody>
      </p:sp>
      <p:sp>
        <p:nvSpPr>
          <p:cNvPr id="230" name="TextBox 15"/>
          <p:cNvSpPr txBox="1"/>
          <p:nvPr/>
        </p:nvSpPr>
        <p:spPr>
          <a:xfrm>
            <a:off x="6720840" y="1508760"/>
            <a:ext cx="48463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1F3A5F"/>
                </a:solidFill>
              </a:defRPr>
            </a:lvl1pPr>
          </a:lstStyle>
          <a:p>
            <a:pPr/>
            <a:r>
              <a:t>Örnek Komutlar</a:t>
            </a:r>
          </a:p>
        </p:txBody>
      </p:sp>
      <p:sp>
        <p:nvSpPr>
          <p:cNvPr id="231" name="TextBox 16"/>
          <p:cNvSpPr txBox="1"/>
          <p:nvPr/>
        </p:nvSpPr>
        <p:spPr>
          <a:xfrm>
            <a:off x="6720840" y="1965960"/>
            <a:ext cx="4846321" cy="2311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22222"/>
                </a:solidFill>
                <a:latin typeface="Consolas"/>
                <a:ea typeface="Consolas"/>
                <a:cs typeface="Consolas"/>
                <a:sym typeface="Consolas"/>
              </a:defRPr>
            </a:pPr>
            <a:r>
              <a:t># Image'lari olustur</a:t>
            </a:r>
          </a:p>
          <a:p>
            <a:pPr>
              <a:defRPr sz="1200">
                <a:solidFill>
                  <a:srgbClr val="222222"/>
                </a:solidFill>
                <a:latin typeface="Consolas"/>
                <a:ea typeface="Consolas"/>
                <a:cs typeface="Consolas"/>
                <a:sym typeface="Consolas"/>
              </a:defRPr>
            </a:pPr>
            <a:r>
              <a:t>docker compose build</a:t>
            </a:r>
          </a:p>
          <a:p>
            <a:pPr>
              <a:defRPr sz="1200">
                <a:solidFill>
                  <a:srgbClr val="222222"/>
                </a:solidFill>
                <a:latin typeface="Consolas"/>
                <a:ea typeface="Consolas"/>
                <a:cs typeface="Consolas"/>
                <a:sym typeface="Consolas"/>
              </a:defRPr>
            </a:pPr>
            <a:r>
              <a:t>docker compose --profile producer build producer</a:t>
            </a:r>
          </a:p>
          <a:p>
            <a:pPr>
              <a:defRPr sz="1200">
                <a:solidFill>
                  <a:srgbClr val="222222"/>
                </a:solidFill>
                <a:latin typeface="Consolas"/>
                <a:ea typeface="Consolas"/>
                <a:cs typeface="Consolas"/>
                <a:sym typeface="Consolas"/>
              </a:defRPr>
            </a:pPr>
          </a:p>
          <a:p>
            <a:pPr>
              <a:defRPr sz="1200">
                <a:solidFill>
                  <a:srgbClr val="222222"/>
                </a:solidFill>
                <a:latin typeface="Consolas"/>
                <a:ea typeface="Consolas"/>
                <a:cs typeface="Consolas"/>
                <a:sym typeface="Consolas"/>
              </a:defRPr>
            </a:pPr>
            <a:r>
              <a:t># Ana servisleri baslat</a:t>
            </a:r>
          </a:p>
          <a:p>
            <a:pPr>
              <a:defRPr sz="1200">
                <a:solidFill>
                  <a:srgbClr val="222222"/>
                </a:solidFill>
                <a:latin typeface="Consolas"/>
                <a:ea typeface="Consolas"/>
                <a:cs typeface="Consolas"/>
                <a:sym typeface="Consolas"/>
              </a:defRPr>
            </a:pPr>
            <a:r>
              <a:t>docker compose up -d zookeeper kafka spark mlflow</a:t>
            </a:r>
          </a:p>
          <a:p>
            <a:pPr>
              <a:defRPr sz="1200">
                <a:solidFill>
                  <a:srgbClr val="222222"/>
                </a:solidFill>
                <a:latin typeface="Consolas"/>
                <a:ea typeface="Consolas"/>
                <a:cs typeface="Consolas"/>
                <a:sym typeface="Consolas"/>
              </a:defRPr>
            </a:pPr>
          </a:p>
          <a:p>
            <a:pPr>
              <a:defRPr sz="1200">
                <a:solidFill>
                  <a:srgbClr val="222222"/>
                </a:solidFill>
                <a:latin typeface="Consolas"/>
                <a:ea typeface="Consolas"/>
                <a:cs typeface="Consolas"/>
                <a:sym typeface="Consolas"/>
              </a:defRPr>
            </a:pPr>
            <a:r>
              <a:t># Producer'i baslat</a:t>
            </a:r>
          </a:p>
          <a:p>
            <a:pPr>
              <a:defRPr sz="1200">
                <a:solidFill>
                  <a:srgbClr val="222222"/>
                </a:solidFill>
                <a:latin typeface="Consolas"/>
                <a:ea typeface="Consolas"/>
                <a:cs typeface="Consolas"/>
                <a:sym typeface="Consolas"/>
              </a:defRPr>
            </a:pPr>
            <a:r>
              <a:t>docker compose --profile producer up -d producer</a:t>
            </a:r>
          </a:p>
          <a:p>
            <a:pPr>
              <a:defRPr sz="1200">
                <a:solidFill>
                  <a:srgbClr val="222222"/>
                </a:solidFill>
                <a:latin typeface="Consolas"/>
                <a:ea typeface="Consolas"/>
                <a:cs typeface="Consolas"/>
                <a:sym typeface="Consolas"/>
              </a:defRPr>
            </a:pPr>
          </a:p>
          <a:p>
            <a:pPr>
              <a:defRPr sz="1200">
                <a:solidFill>
                  <a:srgbClr val="222222"/>
                </a:solidFill>
                <a:latin typeface="Consolas"/>
                <a:ea typeface="Consolas"/>
                <a:cs typeface="Consolas"/>
                <a:sym typeface="Consolas"/>
              </a:defRPr>
            </a:pPr>
            <a:r>
              <a:t># Servisleri dogrula</a:t>
            </a:r>
          </a:p>
          <a:p>
            <a:pPr>
              <a:defRPr sz="1200">
                <a:solidFill>
                  <a:srgbClr val="222222"/>
                </a:solidFill>
                <a:latin typeface="Consolas"/>
                <a:ea typeface="Consolas"/>
                <a:cs typeface="Consolas"/>
                <a:sym typeface="Consolas"/>
              </a:defRPr>
            </a:pPr>
            <a:r>
              <a:t>docker ps</a:t>
            </a:r>
          </a:p>
          <a:p>
            <a:pPr>
              <a:defRPr sz="1200">
                <a:solidFill>
                  <a:srgbClr val="222222"/>
                </a:solidFill>
                <a:latin typeface="Consolas"/>
                <a:ea typeface="Consolas"/>
                <a:cs typeface="Consolas"/>
                <a:sym typeface="Consolas"/>
              </a:defRPr>
            </a:pPr>
            <a:r>
              <a:t>docker logs spotify_producer --tail 30</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234"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235"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Adim 2 — Kafka ile Streaming Veri Üretimi</a:t>
            </a:r>
          </a:p>
        </p:txBody>
      </p:sp>
      <p:sp>
        <p:nvSpPr>
          <p:cNvPr id="236"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Bölüm 6  |  Veri Akışı</a:t>
            </a:r>
          </a:p>
        </p:txBody>
      </p:sp>
      <p:sp>
        <p:nvSpPr>
          <p:cNvPr id="237"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238"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239"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8 / 20</a:t>
            </a:r>
          </a:p>
        </p:txBody>
      </p:sp>
      <p:grpSp>
        <p:nvGrpSpPr>
          <p:cNvPr id="242" name="Rectangle 8"/>
          <p:cNvGrpSpPr/>
          <p:nvPr/>
        </p:nvGrpSpPr>
        <p:grpSpPr>
          <a:xfrm>
            <a:off x="9722815" y="201167"/>
            <a:ext cx="822961" cy="411482"/>
            <a:chOff x="0" y="0"/>
            <a:chExt cx="822960" cy="411480"/>
          </a:xfrm>
        </p:grpSpPr>
        <p:sp>
          <p:nvSpPr>
            <p:cNvPr id="240" name="Dikdörtgen"/>
            <p:cNvSpPr/>
            <p:nvPr/>
          </p:nvSpPr>
          <p:spPr>
            <a:xfrm>
              <a:off x="-1" y="-1"/>
              <a:ext cx="822962" cy="411482"/>
            </a:xfrm>
            <a:prstGeom prst="rect">
              <a:avLst/>
            </a:prstGeom>
            <a:solidFill>
              <a:srgbClr val="2E865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41" name="Adım 2"/>
            <p:cNvSpPr txBox="1"/>
            <p:nvPr/>
          </p:nvSpPr>
          <p:spPr>
            <a:xfrm>
              <a:off x="-1" y="122359"/>
              <a:ext cx="82296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FFFFFF"/>
                  </a:solidFill>
                </a:defRPr>
              </a:lvl1pPr>
            </a:lstStyle>
            <a:p>
              <a:pPr/>
              <a:r>
                <a:t>Adım 2</a:t>
              </a:r>
            </a:p>
          </p:txBody>
        </p:sp>
      </p:grpSp>
      <p:sp>
        <p:nvSpPr>
          <p:cNvPr id="243" name="TextBox 9"/>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Python Kafka Producer ile gerçek zamanlı akış simülasyonu</a:t>
            </a:r>
          </a:p>
        </p:txBody>
      </p:sp>
      <p:sp>
        <p:nvSpPr>
          <p:cNvPr id="244" name="TextBox 10"/>
          <p:cNvSpPr txBox="1"/>
          <p:nvPr/>
        </p:nvSpPr>
        <p:spPr>
          <a:xfrm>
            <a:off x="640080" y="1417319"/>
            <a:ext cx="548640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F3A5F"/>
                </a:solidFill>
              </a:defRPr>
            </a:lvl1pPr>
          </a:lstStyle>
          <a:p>
            <a:pPr/>
            <a:r>
              <a:t>Producer Mantığı (producer/producer.py)</a:t>
            </a:r>
          </a:p>
        </p:txBody>
      </p:sp>
      <p:sp>
        <p:nvSpPr>
          <p:cNvPr id="245" name="TextBox 11"/>
          <p:cNvSpPr txBox="1"/>
          <p:nvPr/>
        </p:nvSpPr>
        <p:spPr>
          <a:xfrm>
            <a:off x="822960" y="1828800"/>
            <a:ext cx="5486401" cy="230775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300">
                <a:solidFill>
                  <a:srgbClr val="2E865F"/>
                </a:solidFill>
              </a:defRPr>
            </a:pPr>
            <a:r>
              <a:t>■  </a:t>
            </a:r>
            <a:r>
              <a:rPr b="0">
                <a:solidFill>
                  <a:srgbClr val="222222"/>
                </a:solidFill>
              </a:rPr>
              <a:t>CSV dosyası DictReader ile satır satır okunur.</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Her satırdan bir JSON event üretilir: event_time, event_type, user_id, track_id ve şarkı özellikleri.</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Kafka topic adı: spotify_tracks.</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Mesaj hızı MESSAGES_PER_SECOND env değişkeni ile ayarlanabilir (varsayılan 50/s).</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Veri seti bittiğinde stream simülasyonu için baştan başlar (LOOP_DATASET).</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wait_for_kafka() ile broker hazır olmadan bağlanma sorunları engellenir.</a:t>
            </a:r>
          </a:p>
        </p:txBody>
      </p:sp>
      <p:sp>
        <p:nvSpPr>
          <p:cNvPr id="246" name="TextBox 12"/>
          <p:cNvSpPr txBox="1"/>
          <p:nvPr/>
        </p:nvSpPr>
        <p:spPr>
          <a:xfrm>
            <a:off x="640080" y="5532120"/>
            <a:ext cx="54864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1F3A5F"/>
                </a:solidFill>
              </a:defRPr>
            </a:lvl1pPr>
          </a:lstStyle>
          <a:p>
            <a:pPr/>
            <a:r>
              <a:t>Loglarda Beklenen Çıktı</a:t>
            </a:r>
          </a:p>
        </p:txBody>
      </p:sp>
      <p:sp>
        <p:nvSpPr>
          <p:cNvPr id="247" name="TextBox 13"/>
          <p:cNvSpPr txBox="1"/>
          <p:nvPr/>
        </p:nvSpPr>
        <p:spPr>
          <a:xfrm>
            <a:off x="822960" y="5897879"/>
            <a:ext cx="5486401" cy="533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22222"/>
                </a:solidFill>
                <a:latin typeface="Consolas"/>
                <a:ea typeface="Consolas"/>
                <a:cs typeface="Consolas"/>
                <a:sym typeface="Consolas"/>
              </a:defRPr>
            </a:pPr>
            <a:r>
              <a:t>Kafka connection successful.</a:t>
            </a:r>
          </a:p>
          <a:p>
            <a:pPr>
              <a:defRPr sz="1200">
                <a:solidFill>
                  <a:srgbClr val="222222"/>
                </a:solidFill>
                <a:latin typeface="Consolas"/>
                <a:ea typeface="Consolas"/>
                <a:cs typeface="Consolas"/>
                <a:sym typeface="Consolas"/>
              </a:defRPr>
            </a:pPr>
            <a:r>
              <a:t>Message speed: 50 messages per second</a:t>
            </a:r>
          </a:p>
          <a:p>
            <a:pPr>
              <a:defRPr sz="1200">
                <a:solidFill>
                  <a:srgbClr val="222222"/>
                </a:solidFill>
                <a:latin typeface="Consolas"/>
                <a:ea typeface="Consolas"/>
                <a:cs typeface="Consolas"/>
                <a:sym typeface="Consolas"/>
              </a:defRPr>
            </a:pPr>
            <a:r>
              <a:t>Total sent messages: 100</a:t>
            </a:r>
          </a:p>
        </p:txBody>
      </p:sp>
      <p:sp>
        <p:nvSpPr>
          <p:cNvPr id="248" name="Rectangle 14"/>
          <p:cNvSpPr/>
          <p:nvPr/>
        </p:nvSpPr>
        <p:spPr>
          <a:xfrm>
            <a:off x="6583680" y="1417319"/>
            <a:ext cx="5029201" cy="5029201"/>
          </a:xfrm>
          <a:prstGeom prst="rect">
            <a:avLst/>
          </a:prstGeom>
          <a:solidFill>
            <a:srgbClr val="F5F5F7"/>
          </a:solidFill>
          <a:ln w="12700">
            <a:miter lim="400000"/>
          </a:ln>
        </p:spPr>
        <p:txBody>
          <a:bodyPr lIns="45719" rIns="45719" anchor="ctr"/>
          <a:lstStyle/>
          <a:p>
            <a:pPr algn="ctr">
              <a:defRPr>
                <a:solidFill>
                  <a:srgbClr val="FFFFFF"/>
                </a:solidFill>
              </a:defRPr>
            </a:pPr>
          </a:p>
        </p:txBody>
      </p:sp>
      <p:sp>
        <p:nvSpPr>
          <p:cNvPr id="249" name="TextBox 15"/>
          <p:cNvSpPr txBox="1"/>
          <p:nvPr/>
        </p:nvSpPr>
        <p:spPr>
          <a:xfrm>
            <a:off x="6720840" y="1508760"/>
            <a:ext cx="48463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rgbClr val="1F3A5F"/>
                </a:solidFill>
              </a:defRPr>
            </a:lvl1pPr>
          </a:lstStyle>
          <a:p>
            <a:pPr/>
            <a:r>
              <a:t>Örnek JSON Mesaj</a:t>
            </a:r>
          </a:p>
        </p:txBody>
      </p:sp>
      <p:sp>
        <p:nvSpPr>
          <p:cNvPr id="250" name="TextBox 16"/>
          <p:cNvSpPr txBox="1"/>
          <p:nvPr/>
        </p:nvSpPr>
        <p:spPr>
          <a:xfrm>
            <a:off x="6720840" y="1965960"/>
            <a:ext cx="4846321" cy="266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200">
                <a:solidFill>
                  <a:srgbClr val="222222"/>
                </a:solidFill>
                <a:latin typeface="Consolas"/>
                <a:ea typeface="Consolas"/>
                <a:cs typeface="Consolas"/>
                <a:sym typeface="Consolas"/>
              </a:defRPr>
            </a:pPr>
            <a:r>
              <a:t>{</a:t>
            </a:r>
          </a:p>
          <a:p>
            <a:pPr>
              <a:defRPr sz="1200">
                <a:solidFill>
                  <a:srgbClr val="222222"/>
                </a:solidFill>
                <a:latin typeface="Consolas"/>
                <a:ea typeface="Consolas"/>
                <a:cs typeface="Consolas"/>
                <a:sym typeface="Consolas"/>
              </a:defRPr>
            </a:pPr>
            <a:r>
              <a:t>  "event_time": "2026-05-11T12:00:01Z",</a:t>
            </a:r>
          </a:p>
          <a:p>
            <a:pPr>
              <a:defRPr sz="1200">
                <a:solidFill>
                  <a:srgbClr val="222222"/>
                </a:solidFill>
                <a:latin typeface="Consolas"/>
                <a:ea typeface="Consolas"/>
                <a:cs typeface="Consolas"/>
                <a:sym typeface="Consolas"/>
              </a:defRPr>
            </a:pPr>
            <a:r>
              <a:t>  "event_type": "track_stream_event",</a:t>
            </a:r>
          </a:p>
          <a:p>
            <a:pPr>
              <a:defRPr sz="1200">
                <a:solidFill>
                  <a:srgbClr val="222222"/>
                </a:solidFill>
                <a:latin typeface="Consolas"/>
                <a:ea typeface="Consolas"/>
                <a:cs typeface="Consolas"/>
                <a:sym typeface="Consolas"/>
              </a:defRPr>
            </a:pPr>
            <a:r>
              <a:t>  "user_id": "user_2421",</a:t>
            </a:r>
          </a:p>
          <a:p>
            <a:pPr>
              <a:defRPr sz="1200">
                <a:solidFill>
                  <a:srgbClr val="222222"/>
                </a:solidFill>
                <a:latin typeface="Consolas"/>
                <a:ea typeface="Consolas"/>
                <a:cs typeface="Consolas"/>
                <a:sym typeface="Consolas"/>
              </a:defRPr>
            </a:pPr>
            <a:r>
              <a:t>  "track_id": "5SuOikwiR...",</a:t>
            </a:r>
          </a:p>
          <a:p>
            <a:pPr>
              <a:defRPr sz="1200">
                <a:solidFill>
                  <a:srgbClr val="222222"/>
                </a:solidFill>
                <a:latin typeface="Consolas"/>
                <a:ea typeface="Consolas"/>
                <a:cs typeface="Consolas"/>
                <a:sym typeface="Consolas"/>
              </a:defRPr>
            </a:pPr>
            <a:r>
              <a:t>  "track_name": "Comedy",</a:t>
            </a:r>
          </a:p>
          <a:p>
            <a:pPr>
              <a:defRPr sz="1200">
                <a:solidFill>
                  <a:srgbClr val="222222"/>
                </a:solidFill>
                <a:latin typeface="Consolas"/>
                <a:ea typeface="Consolas"/>
                <a:cs typeface="Consolas"/>
                <a:sym typeface="Consolas"/>
              </a:defRPr>
            </a:pPr>
            <a:r>
              <a:t>  "track_genre": "acoustic",</a:t>
            </a:r>
          </a:p>
          <a:p>
            <a:pPr>
              <a:defRPr sz="1200">
                <a:solidFill>
                  <a:srgbClr val="222222"/>
                </a:solidFill>
                <a:latin typeface="Consolas"/>
                <a:ea typeface="Consolas"/>
                <a:cs typeface="Consolas"/>
                <a:sym typeface="Consolas"/>
              </a:defRPr>
            </a:pPr>
            <a:r>
              <a:t>  "popularity": 73,</a:t>
            </a:r>
          </a:p>
          <a:p>
            <a:pPr>
              <a:defRPr sz="1200">
                <a:solidFill>
                  <a:srgbClr val="222222"/>
                </a:solidFill>
                <a:latin typeface="Consolas"/>
                <a:ea typeface="Consolas"/>
                <a:cs typeface="Consolas"/>
                <a:sym typeface="Consolas"/>
              </a:defRPr>
            </a:pPr>
            <a:r>
              <a:t>  "duration_ms": 230666,</a:t>
            </a:r>
          </a:p>
          <a:p>
            <a:pPr>
              <a:defRPr sz="1200">
                <a:solidFill>
                  <a:srgbClr val="222222"/>
                </a:solidFill>
                <a:latin typeface="Consolas"/>
                <a:ea typeface="Consolas"/>
                <a:cs typeface="Consolas"/>
                <a:sym typeface="Consolas"/>
              </a:defRPr>
            </a:pPr>
            <a:r>
              <a:t>  "danceability": 0.676,</a:t>
            </a:r>
          </a:p>
          <a:p>
            <a:pPr>
              <a:defRPr sz="1200">
                <a:solidFill>
                  <a:srgbClr val="222222"/>
                </a:solidFill>
                <a:latin typeface="Consolas"/>
                <a:ea typeface="Consolas"/>
                <a:cs typeface="Consolas"/>
                <a:sym typeface="Consolas"/>
              </a:defRPr>
            </a:pPr>
            <a:r>
              <a:t>  "energy": 0.461,</a:t>
            </a:r>
          </a:p>
          <a:p>
            <a:pPr>
              <a:defRPr sz="1200">
                <a:solidFill>
                  <a:srgbClr val="222222"/>
                </a:solidFill>
                <a:latin typeface="Consolas"/>
                <a:ea typeface="Consolas"/>
                <a:cs typeface="Consolas"/>
                <a:sym typeface="Consolas"/>
              </a:defRPr>
            </a:pPr>
            <a:r>
              <a:t>  "tempo": 87.917,</a:t>
            </a:r>
          </a:p>
          <a:p>
            <a:pPr>
              <a:defRPr sz="1200">
                <a:solidFill>
                  <a:srgbClr val="222222"/>
                </a:solidFill>
                <a:latin typeface="Consolas"/>
                <a:ea typeface="Consolas"/>
                <a:cs typeface="Consolas"/>
                <a:sym typeface="Consolas"/>
              </a:defRPr>
            </a:pPr>
            <a:r>
              <a:t>  "valence": 0.715,</a:t>
            </a:r>
          </a:p>
          <a:p>
            <a:pPr>
              <a:defRPr sz="1200">
                <a:solidFill>
                  <a:srgbClr val="222222"/>
                </a:solidFill>
                <a:latin typeface="Consolas"/>
                <a:ea typeface="Consolas"/>
                <a:cs typeface="Consolas"/>
                <a:sym typeface="Consolas"/>
              </a:defRPr>
            </a:pPr>
            <a:r>
              <a:t>  "explicit": false</a:t>
            </a:r>
          </a:p>
          <a:p>
            <a:pPr>
              <a:defRPr sz="1200">
                <a:solidFill>
                  <a:srgbClr val="222222"/>
                </a:solidFill>
                <a:latin typeface="Consolas"/>
                <a:ea typeface="Consolas"/>
                <a:cs typeface="Consolas"/>
                <a:sym typeface="Consolas"/>
              </a:defRPr>
            </a:pPr>
            <a:r>
              <a:t>}</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253"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254"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Adim 3 — Spark Structured Streaming + Delta Lake</a:t>
            </a:r>
          </a:p>
        </p:txBody>
      </p:sp>
      <p:sp>
        <p:nvSpPr>
          <p:cNvPr id="255"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Bölüm 7  |  Veri İşleme</a:t>
            </a:r>
          </a:p>
        </p:txBody>
      </p:sp>
      <p:sp>
        <p:nvSpPr>
          <p:cNvPr id="256"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257"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258"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9 / 20</a:t>
            </a:r>
          </a:p>
        </p:txBody>
      </p:sp>
      <p:grpSp>
        <p:nvGrpSpPr>
          <p:cNvPr id="261" name="Rectangle 8"/>
          <p:cNvGrpSpPr/>
          <p:nvPr/>
        </p:nvGrpSpPr>
        <p:grpSpPr>
          <a:xfrm>
            <a:off x="9516822" y="233171"/>
            <a:ext cx="822961" cy="411482"/>
            <a:chOff x="0" y="0"/>
            <a:chExt cx="822960" cy="411480"/>
          </a:xfrm>
        </p:grpSpPr>
        <p:sp>
          <p:nvSpPr>
            <p:cNvPr id="259" name="Dikdörtgen"/>
            <p:cNvSpPr/>
            <p:nvPr/>
          </p:nvSpPr>
          <p:spPr>
            <a:xfrm>
              <a:off x="-1" y="-1"/>
              <a:ext cx="822962" cy="411482"/>
            </a:xfrm>
            <a:prstGeom prst="rect">
              <a:avLst/>
            </a:prstGeom>
            <a:solidFill>
              <a:srgbClr val="2E865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60" name="Adım 3"/>
            <p:cNvSpPr txBox="1"/>
            <p:nvPr/>
          </p:nvSpPr>
          <p:spPr>
            <a:xfrm>
              <a:off x="-1" y="122359"/>
              <a:ext cx="82296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FFFFFF"/>
                  </a:solidFill>
                </a:defRPr>
              </a:lvl1pPr>
            </a:lstStyle>
            <a:p>
              <a:pPr/>
              <a:r>
                <a:t>Adım 3</a:t>
              </a:r>
            </a:p>
          </p:txBody>
        </p:sp>
      </p:grpSp>
      <p:sp>
        <p:nvSpPr>
          <p:cNvPr id="262" name="TextBox 9"/>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Kafka -&gt; Spark -&gt; Delta katmanları (Bronze / Silver / Gold)</a:t>
            </a:r>
          </a:p>
        </p:txBody>
      </p:sp>
      <p:sp>
        <p:nvSpPr>
          <p:cNvPr id="263" name="Rectangle 10"/>
          <p:cNvSpPr/>
          <p:nvPr/>
        </p:nvSpPr>
        <p:spPr>
          <a:xfrm>
            <a:off x="640080" y="1463039"/>
            <a:ext cx="3749040" cy="548641"/>
          </a:xfrm>
          <a:prstGeom prst="rect">
            <a:avLst/>
          </a:prstGeom>
          <a:solidFill>
            <a:srgbClr val="CD7F32"/>
          </a:solidFill>
          <a:ln w="12700">
            <a:miter lim="400000"/>
          </a:ln>
        </p:spPr>
        <p:txBody>
          <a:bodyPr lIns="45719" rIns="45719" anchor="ctr"/>
          <a:lstStyle/>
          <a:p>
            <a:pPr algn="ctr">
              <a:defRPr>
                <a:solidFill>
                  <a:srgbClr val="FFFFFF"/>
                </a:solidFill>
              </a:defRPr>
            </a:pPr>
          </a:p>
        </p:txBody>
      </p:sp>
      <p:sp>
        <p:nvSpPr>
          <p:cNvPr id="264" name="Rectangle 11"/>
          <p:cNvSpPr/>
          <p:nvPr/>
        </p:nvSpPr>
        <p:spPr>
          <a:xfrm>
            <a:off x="640080" y="2011679"/>
            <a:ext cx="3749040" cy="4023360"/>
          </a:xfrm>
          <a:prstGeom prst="rect">
            <a:avLst/>
          </a:prstGeom>
          <a:solidFill>
            <a:srgbClr val="F5F5F7"/>
          </a:solidFill>
          <a:ln w="12700">
            <a:miter lim="400000"/>
          </a:ln>
        </p:spPr>
        <p:txBody>
          <a:bodyPr lIns="45719" rIns="45719" anchor="ctr"/>
          <a:lstStyle/>
          <a:p>
            <a:pPr algn="ctr">
              <a:defRPr>
                <a:solidFill>
                  <a:srgbClr val="FFFFFF"/>
                </a:solidFill>
              </a:defRPr>
            </a:pPr>
          </a:p>
        </p:txBody>
      </p:sp>
      <p:sp>
        <p:nvSpPr>
          <p:cNvPr id="265" name="TextBox 12"/>
          <p:cNvSpPr txBox="1"/>
          <p:nvPr/>
        </p:nvSpPr>
        <p:spPr>
          <a:xfrm>
            <a:off x="777240" y="1621108"/>
            <a:ext cx="3474719"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FFFFF"/>
                </a:solidFill>
              </a:defRPr>
            </a:lvl1pPr>
          </a:lstStyle>
          <a:p>
            <a:pPr/>
            <a:r>
              <a:t>BRONZE</a:t>
            </a:r>
          </a:p>
        </p:txBody>
      </p:sp>
      <p:sp>
        <p:nvSpPr>
          <p:cNvPr id="266" name="TextBox 13"/>
          <p:cNvSpPr txBox="1"/>
          <p:nvPr/>
        </p:nvSpPr>
        <p:spPr>
          <a:xfrm>
            <a:off x="777240" y="2148839"/>
            <a:ext cx="3474719"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1F3A5F"/>
                </a:solidFill>
              </a:defRPr>
            </a:lvl1pPr>
          </a:lstStyle>
          <a:p>
            <a:pPr/>
            <a:r>
              <a:t>Ham veri</a:t>
            </a:r>
          </a:p>
        </p:txBody>
      </p:sp>
      <p:sp>
        <p:nvSpPr>
          <p:cNvPr id="267" name="TextBox 14"/>
          <p:cNvSpPr txBox="1"/>
          <p:nvPr/>
        </p:nvSpPr>
        <p:spPr>
          <a:xfrm>
            <a:off x="777240" y="2514600"/>
            <a:ext cx="3474719"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66666"/>
                </a:solidFill>
                <a:latin typeface="Consolas"/>
                <a:ea typeface="Consolas"/>
                <a:cs typeface="Consolas"/>
                <a:sym typeface="Consolas"/>
              </a:defRPr>
            </a:lvl1pPr>
          </a:lstStyle>
          <a:p>
            <a:pPr/>
            <a:r>
              <a:t>delta/bronze/spotify_tracks</a:t>
            </a:r>
          </a:p>
        </p:txBody>
      </p:sp>
      <p:sp>
        <p:nvSpPr>
          <p:cNvPr id="268" name="TextBox 15"/>
          <p:cNvSpPr txBox="1"/>
          <p:nvPr/>
        </p:nvSpPr>
        <p:spPr>
          <a:xfrm>
            <a:off x="777240" y="2971800"/>
            <a:ext cx="3474719" cy="103119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200">
                <a:solidFill>
                  <a:srgbClr val="2E865F"/>
                </a:solidFill>
              </a:defRPr>
            </a:pPr>
            <a:r>
              <a:t>■  </a:t>
            </a:r>
            <a:r>
              <a:rPr b="0">
                <a:solidFill>
                  <a:srgbClr val="222222"/>
                </a:solidFill>
              </a:rPr>
              <a:t>Kafka JSON mesajlarının sema ile parse edilmiş hali.</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kafka_timestamp, partition, offset, ingestion_time saklanır.</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Append mode + 10 sn trigger ile yazılır.</a:t>
            </a:r>
          </a:p>
        </p:txBody>
      </p:sp>
      <p:sp>
        <p:nvSpPr>
          <p:cNvPr id="269" name="Rectangle 16"/>
          <p:cNvSpPr/>
          <p:nvPr/>
        </p:nvSpPr>
        <p:spPr>
          <a:xfrm>
            <a:off x="4553710" y="1463039"/>
            <a:ext cx="3749040" cy="548641"/>
          </a:xfrm>
          <a:prstGeom prst="rect">
            <a:avLst/>
          </a:prstGeom>
          <a:solidFill>
            <a:srgbClr val="A8A8A8"/>
          </a:solidFill>
          <a:ln w="12700">
            <a:miter lim="400000"/>
          </a:ln>
        </p:spPr>
        <p:txBody>
          <a:bodyPr lIns="45719" rIns="45719" anchor="ctr"/>
          <a:lstStyle/>
          <a:p>
            <a:pPr algn="ctr">
              <a:defRPr>
                <a:solidFill>
                  <a:srgbClr val="FFFFFF"/>
                </a:solidFill>
              </a:defRPr>
            </a:pPr>
          </a:p>
        </p:txBody>
      </p:sp>
      <p:sp>
        <p:nvSpPr>
          <p:cNvPr id="270" name="Rectangle 17"/>
          <p:cNvSpPr/>
          <p:nvPr/>
        </p:nvSpPr>
        <p:spPr>
          <a:xfrm>
            <a:off x="4553710" y="2011679"/>
            <a:ext cx="3749040" cy="4023360"/>
          </a:xfrm>
          <a:prstGeom prst="rect">
            <a:avLst/>
          </a:prstGeom>
          <a:solidFill>
            <a:srgbClr val="F5F5F7"/>
          </a:solidFill>
          <a:ln w="12700">
            <a:miter lim="400000"/>
          </a:ln>
        </p:spPr>
        <p:txBody>
          <a:bodyPr lIns="45719" rIns="45719" anchor="ctr"/>
          <a:lstStyle/>
          <a:p>
            <a:pPr algn="ctr">
              <a:defRPr>
                <a:solidFill>
                  <a:srgbClr val="FFFFFF"/>
                </a:solidFill>
              </a:defRPr>
            </a:pPr>
          </a:p>
        </p:txBody>
      </p:sp>
      <p:sp>
        <p:nvSpPr>
          <p:cNvPr id="271" name="TextBox 18"/>
          <p:cNvSpPr txBox="1"/>
          <p:nvPr/>
        </p:nvSpPr>
        <p:spPr>
          <a:xfrm>
            <a:off x="4690871" y="1621108"/>
            <a:ext cx="3474719"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FFFFF"/>
                </a:solidFill>
              </a:defRPr>
            </a:lvl1pPr>
          </a:lstStyle>
          <a:p>
            <a:pPr/>
            <a:r>
              <a:t>SILVER</a:t>
            </a:r>
          </a:p>
        </p:txBody>
      </p:sp>
      <p:sp>
        <p:nvSpPr>
          <p:cNvPr id="272" name="TextBox 19"/>
          <p:cNvSpPr txBox="1"/>
          <p:nvPr/>
        </p:nvSpPr>
        <p:spPr>
          <a:xfrm>
            <a:off x="4690871" y="2148839"/>
            <a:ext cx="3474719"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1F3A5F"/>
                </a:solidFill>
              </a:defRPr>
            </a:lvl1pPr>
          </a:lstStyle>
          <a:p>
            <a:pPr/>
            <a:r>
              <a:t>Temizlenmiş veri</a:t>
            </a:r>
          </a:p>
        </p:txBody>
      </p:sp>
      <p:sp>
        <p:nvSpPr>
          <p:cNvPr id="273" name="TextBox 20"/>
          <p:cNvSpPr txBox="1"/>
          <p:nvPr/>
        </p:nvSpPr>
        <p:spPr>
          <a:xfrm>
            <a:off x="4690871" y="2514600"/>
            <a:ext cx="3474719"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66666"/>
                </a:solidFill>
                <a:latin typeface="Consolas"/>
                <a:ea typeface="Consolas"/>
                <a:cs typeface="Consolas"/>
                <a:sym typeface="Consolas"/>
              </a:defRPr>
            </a:lvl1pPr>
          </a:lstStyle>
          <a:p>
            <a:pPr/>
            <a:r>
              <a:t>delta/silver/spotify_tracks</a:t>
            </a:r>
          </a:p>
        </p:txBody>
      </p:sp>
      <p:sp>
        <p:nvSpPr>
          <p:cNvPr id="274" name="TextBox 21"/>
          <p:cNvSpPr txBox="1"/>
          <p:nvPr/>
        </p:nvSpPr>
        <p:spPr>
          <a:xfrm>
            <a:off x="4690871" y="2971800"/>
            <a:ext cx="3474719" cy="8171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200">
                <a:solidFill>
                  <a:srgbClr val="2E865F"/>
                </a:solidFill>
              </a:defRPr>
            </a:pPr>
            <a:r>
              <a:t>■  </a:t>
            </a:r>
            <a:r>
              <a:rPr b="0">
                <a:solidFill>
                  <a:srgbClr val="222222"/>
                </a:solidFill>
              </a:rPr>
              <a:t>Null değerler ve duplikatlar temizlenir.</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Tipler doğrulanır, format hataları giderilir.</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Analiz ve EDA için kullanıma hazırdır.</a:t>
            </a:r>
          </a:p>
        </p:txBody>
      </p:sp>
      <p:sp>
        <p:nvSpPr>
          <p:cNvPr id="275" name="Rectangle 22"/>
          <p:cNvSpPr/>
          <p:nvPr/>
        </p:nvSpPr>
        <p:spPr>
          <a:xfrm>
            <a:off x="8467342" y="1463039"/>
            <a:ext cx="3749040" cy="54864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76" name="Rectangle 23"/>
          <p:cNvSpPr/>
          <p:nvPr/>
        </p:nvSpPr>
        <p:spPr>
          <a:xfrm>
            <a:off x="8467342" y="2011679"/>
            <a:ext cx="3749040" cy="4023360"/>
          </a:xfrm>
          <a:prstGeom prst="rect">
            <a:avLst/>
          </a:prstGeom>
          <a:solidFill>
            <a:srgbClr val="F5F5F7"/>
          </a:solidFill>
          <a:ln w="12700">
            <a:miter lim="400000"/>
          </a:ln>
        </p:spPr>
        <p:txBody>
          <a:bodyPr lIns="45719" rIns="45719" anchor="ctr"/>
          <a:lstStyle/>
          <a:p>
            <a:pPr algn="ctr">
              <a:defRPr>
                <a:solidFill>
                  <a:srgbClr val="FFFFFF"/>
                </a:solidFill>
              </a:defRPr>
            </a:pPr>
          </a:p>
        </p:txBody>
      </p:sp>
      <p:sp>
        <p:nvSpPr>
          <p:cNvPr id="277" name="TextBox 24"/>
          <p:cNvSpPr txBox="1"/>
          <p:nvPr/>
        </p:nvSpPr>
        <p:spPr>
          <a:xfrm>
            <a:off x="8604501" y="1621108"/>
            <a:ext cx="3474720"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FFFFFF"/>
                </a:solidFill>
              </a:defRPr>
            </a:lvl1pPr>
          </a:lstStyle>
          <a:p>
            <a:pPr/>
            <a:r>
              <a:t>GOLD</a:t>
            </a:r>
          </a:p>
        </p:txBody>
      </p:sp>
      <p:sp>
        <p:nvSpPr>
          <p:cNvPr id="278" name="TextBox 25"/>
          <p:cNvSpPr txBox="1"/>
          <p:nvPr/>
        </p:nvSpPr>
        <p:spPr>
          <a:xfrm>
            <a:off x="8604501" y="2148839"/>
            <a:ext cx="347472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rgbClr val="1F3A5F"/>
                </a:solidFill>
              </a:defRPr>
            </a:lvl1pPr>
          </a:lstStyle>
          <a:p>
            <a:pPr/>
            <a:r>
              <a:t>Analitik &amp; Feature</a:t>
            </a:r>
          </a:p>
        </p:txBody>
      </p:sp>
      <p:sp>
        <p:nvSpPr>
          <p:cNvPr id="279" name="TextBox 26"/>
          <p:cNvSpPr txBox="1"/>
          <p:nvPr/>
        </p:nvSpPr>
        <p:spPr>
          <a:xfrm>
            <a:off x="8604501" y="2514600"/>
            <a:ext cx="3474720"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66666"/>
                </a:solidFill>
                <a:latin typeface="Consolas"/>
                <a:ea typeface="Consolas"/>
                <a:cs typeface="Consolas"/>
                <a:sym typeface="Consolas"/>
              </a:defRPr>
            </a:lvl1pPr>
          </a:lstStyle>
          <a:p>
            <a:pPr/>
            <a:r>
              <a:t>delta/gold/spotify_analytics  +  spotify_tracks_features</a:t>
            </a:r>
          </a:p>
        </p:txBody>
      </p:sp>
      <p:sp>
        <p:nvSpPr>
          <p:cNvPr id="280" name="TextBox 27"/>
          <p:cNvSpPr txBox="1"/>
          <p:nvPr/>
        </p:nvSpPr>
        <p:spPr>
          <a:xfrm>
            <a:off x="8604501" y="2971800"/>
            <a:ext cx="3474720" cy="8171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200">
                <a:solidFill>
                  <a:srgbClr val="2E865F"/>
                </a:solidFill>
              </a:defRPr>
            </a:pPr>
            <a:r>
              <a:t>■  </a:t>
            </a:r>
            <a:r>
              <a:rPr b="0">
                <a:solidFill>
                  <a:srgbClr val="222222"/>
                </a:solidFill>
              </a:rPr>
              <a:t>Analytics: Tür/zaman bazlı toplulaştırma.</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Features: ML için üretilmiş özellik tablosu.</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ACID uyumu ile versiyonlanabilir saklama.</a:t>
            </a:r>
          </a:p>
        </p:txBody>
      </p:sp>
      <p:sp>
        <p:nvSpPr>
          <p:cNvPr id="281" name="TextBox 28"/>
          <p:cNvSpPr txBox="1"/>
          <p:nvPr/>
        </p:nvSpPr>
        <p:spPr>
          <a:xfrm>
            <a:off x="640079" y="5989320"/>
            <a:ext cx="1091153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66666"/>
                </a:solidFill>
                <a:latin typeface="Consolas"/>
                <a:ea typeface="Consolas"/>
                <a:cs typeface="Consolas"/>
                <a:sym typeface="Consolas"/>
              </a:defRPr>
            </a:lvl1pPr>
          </a:lstStyle>
          <a:p>
            <a:pPr/>
            <a:r>
              <a:t>Spark Job'lari: stream_kafka_to_bronze.py | stream_bronze_to_silver.py | stream_silver_to_gold.py</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284"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285"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Adim 4 — Keşifsel Veri Analizi (EDA)</a:t>
            </a:r>
          </a:p>
        </p:txBody>
      </p:sp>
      <p:sp>
        <p:nvSpPr>
          <p:cNvPr id="286"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Bölüm 8  |  Veri Anlamak</a:t>
            </a:r>
          </a:p>
        </p:txBody>
      </p:sp>
      <p:sp>
        <p:nvSpPr>
          <p:cNvPr id="287"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288"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289"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10 / 20</a:t>
            </a:r>
          </a:p>
        </p:txBody>
      </p:sp>
      <p:grpSp>
        <p:nvGrpSpPr>
          <p:cNvPr id="292" name="Rectangle 8"/>
          <p:cNvGrpSpPr/>
          <p:nvPr/>
        </p:nvGrpSpPr>
        <p:grpSpPr>
          <a:xfrm>
            <a:off x="9336578" y="235078"/>
            <a:ext cx="822961" cy="411481"/>
            <a:chOff x="0" y="0"/>
            <a:chExt cx="822960" cy="411480"/>
          </a:xfrm>
        </p:grpSpPr>
        <p:sp>
          <p:nvSpPr>
            <p:cNvPr id="290" name="Dikdörtgen"/>
            <p:cNvSpPr/>
            <p:nvPr/>
          </p:nvSpPr>
          <p:spPr>
            <a:xfrm>
              <a:off x="-1" y="-1"/>
              <a:ext cx="822962" cy="411482"/>
            </a:xfrm>
            <a:prstGeom prst="rect">
              <a:avLst/>
            </a:prstGeom>
            <a:solidFill>
              <a:srgbClr val="2E865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91" name="Adım 4"/>
            <p:cNvSpPr txBox="1"/>
            <p:nvPr/>
          </p:nvSpPr>
          <p:spPr>
            <a:xfrm>
              <a:off x="-1" y="122359"/>
              <a:ext cx="82296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FFFFFF"/>
                  </a:solidFill>
                </a:defRPr>
              </a:lvl1pPr>
            </a:lstStyle>
            <a:p>
              <a:pPr/>
              <a:r>
                <a:t>Adım 4</a:t>
              </a:r>
            </a:p>
          </p:txBody>
        </p:sp>
      </p:grpSp>
      <p:sp>
        <p:nvSpPr>
          <p:cNvPr id="293" name="TextBox 9"/>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Silver katmandan okunan veri üzerinde kapsamlı analiz</a:t>
            </a:r>
          </a:p>
        </p:txBody>
      </p:sp>
      <p:sp>
        <p:nvSpPr>
          <p:cNvPr id="294" name="Rectangle 10"/>
          <p:cNvSpPr/>
          <p:nvPr/>
        </p:nvSpPr>
        <p:spPr>
          <a:xfrm>
            <a:off x="640080" y="1417319"/>
            <a:ext cx="5212080" cy="2514601"/>
          </a:xfrm>
          <a:prstGeom prst="rect">
            <a:avLst/>
          </a:prstGeom>
          <a:solidFill>
            <a:srgbClr val="FFFFFF"/>
          </a:solidFill>
          <a:ln w="6350">
            <a:solidFill>
              <a:srgbClr val="D0D0D7"/>
            </a:solidFill>
          </a:ln>
        </p:spPr>
        <p:txBody>
          <a:bodyPr lIns="45719" rIns="45719" anchor="ctr"/>
          <a:lstStyle/>
          <a:p>
            <a:pPr algn="ctr">
              <a:defRPr>
                <a:solidFill>
                  <a:srgbClr val="FFFFFF"/>
                </a:solidFill>
              </a:defRPr>
            </a:pPr>
          </a:p>
        </p:txBody>
      </p:sp>
      <p:pic>
        <p:nvPicPr>
          <p:cNvPr id="295" name="Picture 11" descr="Picture 11"/>
          <p:cNvPicPr>
            <a:picLocks noChangeAspect="1"/>
          </p:cNvPicPr>
          <p:nvPr/>
        </p:nvPicPr>
        <p:blipFill>
          <a:blip r:embed="rId2">
            <a:extLst/>
          </a:blip>
          <a:stretch>
            <a:fillRect/>
          </a:stretch>
        </p:blipFill>
        <p:spPr>
          <a:xfrm>
            <a:off x="731519" y="1463039"/>
            <a:ext cx="5029201" cy="2148841"/>
          </a:xfrm>
          <a:prstGeom prst="rect">
            <a:avLst/>
          </a:prstGeom>
          <a:ln w="12700">
            <a:miter lim="400000"/>
          </a:ln>
        </p:spPr>
      </p:pic>
      <p:sp>
        <p:nvSpPr>
          <p:cNvPr id="296" name="TextBox 12"/>
          <p:cNvSpPr txBox="1"/>
          <p:nvPr/>
        </p:nvSpPr>
        <p:spPr>
          <a:xfrm>
            <a:off x="640080" y="3611879"/>
            <a:ext cx="521208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66666"/>
                </a:solidFill>
              </a:defRPr>
            </a:lvl1pPr>
          </a:lstStyle>
          <a:p>
            <a:pPr/>
            <a:r>
              <a:t>Popularity Dağılımı</a:t>
            </a:r>
          </a:p>
        </p:txBody>
      </p:sp>
      <p:sp>
        <p:nvSpPr>
          <p:cNvPr id="297" name="Rectangle 13"/>
          <p:cNvSpPr/>
          <p:nvPr/>
        </p:nvSpPr>
        <p:spPr>
          <a:xfrm>
            <a:off x="6355079" y="1417319"/>
            <a:ext cx="5212081" cy="2514601"/>
          </a:xfrm>
          <a:prstGeom prst="rect">
            <a:avLst/>
          </a:prstGeom>
          <a:solidFill>
            <a:srgbClr val="FFFFFF"/>
          </a:solidFill>
          <a:ln w="6350">
            <a:solidFill>
              <a:srgbClr val="D0D0D7"/>
            </a:solidFill>
          </a:ln>
        </p:spPr>
        <p:txBody>
          <a:bodyPr lIns="45719" rIns="45719" anchor="ctr"/>
          <a:lstStyle/>
          <a:p>
            <a:pPr algn="ctr">
              <a:defRPr>
                <a:solidFill>
                  <a:srgbClr val="FFFFFF"/>
                </a:solidFill>
              </a:defRPr>
            </a:pPr>
          </a:p>
        </p:txBody>
      </p:sp>
      <p:pic>
        <p:nvPicPr>
          <p:cNvPr id="298" name="Picture 14" descr="Picture 14"/>
          <p:cNvPicPr>
            <a:picLocks noChangeAspect="1"/>
          </p:cNvPicPr>
          <p:nvPr/>
        </p:nvPicPr>
        <p:blipFill>
          <a:blip r:embed="rId3">
            <a:extLst/>
          </a:blip>
          <a:stretch>
            <a:fillRect/>
          </a:stretch>
        </p:blipFill>
        <p:spPr>
          <a:xfrm>
            <a:off x="6446520" y="1463039"/>
            <a:ext cx="5029201" cy="2148841"/>
          </a:xfrm>
          <a:prstGeom prst="rect">
            <a:avLst/>
          </a:prstGeom>
          <a:ln w="12700">
            <a:miter lim="400000"/>
          </a:ln>
        </p:spPr>
      </p:pic>
      <p:sp>
        <p:nvSpPr>
          <p:cNvPr id="299" name="TextBox 15"/>
          <p:cNvSpPr txBox="1"/>
          <p:nvPr/>
        </p:nvSpPr>
        <p:spPr>
          <a:xfrm>
            <a:off x="6355079" y="3611879"/>
            <a:ext cx="521208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66666"/>
                </a:solidFill>
              </a:defRPr>
            </a:lvl1pPr>
          </a:lstStyle>
          <a:p>
            <a:pPr/>
            <a:r>
              <a:t>Korelasyon Matrisi</a:t>
            </a:r>
          </a:p>
        </p:txBody>
      </p:sp>
      <p:sp>
        <p:nvSpPr>
          <p:cNvPr id="300" name="Rectangle 16"/>
          <p:cNvSpPr/>
          <p:nvPr/>
        </p:nvSpPr>
        <p:spPr>
          <a:xfrm>
            <a:off x="640080" y="3931920"/>
            <a:ext cx="5212080" cy="2514601"/>
          </a:xfrm>
          <a:prstGeom prst="rect">
            <a:avLst/>
          </a:prstGeom>
          <a:solidFill>
            <a:srgbClr val="FFFFFF"/>
          </a:solidFill>
          <a:ln w="6350">
            <a:solidFill>
              <a:srgbClr val="D0D0D7"/>
            </a:solidFill>
          </a:ln>
        </p:spPr>
        <p:txBody>
          <a:bodyPr lIns="45719" rIns="45719" anchor="ctr"/>
          <a:lstStyle/>
          <a:p>
            <a:pPr algn="ctr">
              <a:defRPr>
                <a:solidFill>
                  <a:srgbClr val="FFFFFF"/>
                </a:solidFill>
              </a:defRPr>
            </a:pPr>
          </a:p>
        </p:txBody>
      </p:sp>
      <p:pic>
        <p:nvPicPr>
          <p:cNvPr id="301" name="Picture 17" descr="Picture 17"/>
          <p:cNvPicPr>
            <a:picLocks noChangeAspect="1"/>
          </p:cNvPicPr>
          <p:nvPr/>
        </p:nvPicPr>
        <p:blipFill>
          <a:blip r:embed="rId4">
            <a:extLst/>
          </a:blip>
          <a:stretch>
            <a:fillRect/>
          </a:stretch>
        </p:blipFill>
        <p:spPr>
          <a:xfrm>
            <a:off x="731519" y="3977640"/>
            <a:ext cx="5029201" cy="2148841"/>
          </a:xfrm>
          <a:prstGeom prst="rect">
            <a:avLst/>
          </a:prstGeom>
          <a:ln w="12700">
            <a:miter lim="400000"/>
          </a:ln>
        </p:spPr>
      </p:pic>
      <p:sp>
        <p:nvSpPr>
          <p:cNvPr id="302" name="TextBox 18"/>
          <p:cNvSpPr txBox="1"/>
          <p:nvPr/>
        </p:nvSpPr>
        <p:spPr>
          <a:xfrm>
            <a:off x="640080" y="6126479"/>
            <a:ext cx="521208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66666"/>
                </a:solidFill>
              </a:defRPr>
            </a:lvl1pPr>
          </a:lstStyle>
          <a:p>
            <a:pPr/>
            <a:r>
              <a:t>Tür (Genre) Analizi</a:t>
            </a:r>
          </a:p>
        </p:txBody>
      </p:sp>
      <p:sp>
        <p:nvSpPr>
          <p:cNvPr id="303" name="Rectangle 19"/>
          <p:cNvSpPr/>
          <p:nvPr/>
        </p:nvSpPr>
        <p:spPr>
          <a:xfrm>
            <a:off x="6355079" y="3931920"/>
            <a:ext cx="5212081" cy="2514601"/>
          </a:xfrm>
          <a:prstGeom prst="rect">
            <a:avLst/>
          </a:prstGeom>
          <a:solidFill>
            <a:srgbClr val="FFFFFF"/>
          </a:solidFill>
          <a:ln w="6350">
            <a:solidFill>
              <a:srgbClr val="D0D0D7"/>
            </a:solidFill>
          </a:ln>
        </p:spPr>
        <p:txBody>
          <a:bodyPr lIns="45719" rIns="45719" anchor="ctr"/>
          <a:lstStyle/>
          <a:p>
            <a:pPr algn="ctr">
              <a:defRPr>
                <a:solidFill>
                  <a:srgbClr val="FFFFFF"/>
                </a:solidFill>
              </a:defRPr>
            </a:pPr>
          </a:p>
        </p:txBody>
      </p:sp>
      <p:pic>
        <p:nvPicPr>
          <p:cNvPr id="304" name="Picture 20" descr="Picture 20"/>
          <p:cNvPicPr>
            <a:picLocks noChangeAspect="1"/>
          </p:cNvPicPr>
          <p:nvPr/>
        </p:nvPicPr>
        <p:blipFill>
          <a:blip r:embed="rId5">
            <a:extLst/>
          </a:blip>
          <a:stretch>
            <a:fillRect/>
          </a:stretch>
        </p:blipFill>
        <p:spPr>
          <a:xfrm>
            <a:off x="6446520" y="3977640"/>
            <a:ext cx="5029201" cy="2148841"/>
          </a:xfrm>
          <a:prstGeom prst="rect">
            <a:avLst/>
          </a:prstGeom>
          <a:ln w="12700">
            <a:miter lim="400000"/>
          </a:ln>
        </p:spPr>
      </p:pic>
      <p:sp>
        <p:nvSpPr>
          <p:cNvPr id="305" name="TextBox 21"/>
          <p:cNvSpPr txBox="1"/>
          <p:nvPr/>
        </p:nvSpPr>
        <p:spPr>
          <a:xfrm>
            <a:off x="6355079" y="6126479"/>
            <a:ext cx="521208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66666"/>
                </a:solidFill>
              </a:defRPr>
            </a:lvl1pPr>
          </a:lstStyle>
          <a:p>
            <a:pPr/>
            <a:r>
              <a:t>Energy vs Danceability</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308"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309"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Adim 4 — EDA Bulguları</a:t>
            </a:r>
          </a:p>
        </p:txBody>
      </p:sp>
      <p:sp>
        <p:nvSpPr>
          <p:cNvPr id="310"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Bölüm 8  |  Veri Anlamak</a:t>
            </a:r>
          </a:p>
        </p:txBody>
      </p:sp>
      <p:sp>
        <p:nvSpPr>
          <p:cNvPr id="311"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312"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313"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11 / 20</a:t>
            </a:r>
          </a:p>
        </p:txBody>
      </p:sp>
      <p:grpSp>
        <p:nvGrpSpPr>
          <p:cNvPr id="316" name="Rectangle 8"/>
          <p:cNvGrpSpPr/>
          <p:nvPr/>
        </p:nvGrpSpPr>
        <p:grpSpPr>
          <a:xfrm>
            <a:off x="9400951" y="235078"/>
            <a:ext cx="822961" cy="411481"/>
            <a:chOff x="0" y="0"/>
            <a:chExt cx="822960" cy="411480"/>
          </a:xfrm>
        </p:grpSpPr>
        <p:sp>
          <p:nvSpPr>
            <p:cNvPr id="314" name="Dikdörtgen"/>
            <p:cNvSpPr/>
            <p:nvPr/>
          </p:nvSpPr>
          <p:spPr>
            <a:xfrm>
              <a:off x="-1" y="-1"/>
              <a:ext cx="822962" cy="411482"/>
            </a:xfrm>
            <a:prstGeom prst="rect">
              <a:avLst/>
            </a:prstGeom>
            <a:solidFill>
              <a:srgbClr val="2E865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15" name="Adım 4"/>
            <p:cNvSpPr txBox="1"/>
            <p:nvPr/>
          </p:nvSpPr>
          <p:spPr>
            <a:xfrm>
              <a:off x="-1" y="122359"/>
              <a:ext cx="82296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FFFFFF"/>
                  </a:solidFill>
                </a:defRPr>
              </a:lvl1pPr>
            </a:lstStyle>
            <a:p>
              <a:pPr/>
              <a:r>
                <a:t>Adım 4</a:t>
              </a:r>
            </a:p>
          </p:txBody>
        </p:sp>
      </p:grpSp>
      <p:sp>
        <p:nvSpPr>
          <p:cNvPr id="317" name="TextBox 9"/>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Oluşturulan grafiklerden çıkan ana çıkarımlar</a:t>
            </a:r>
          </a:p>
        </p:txBody>
      </p:sp>
      <p:sp>
        <p:nvSpPr>
          <p:cNvPr id="318" name="TextBox 10"/>
          <p:cNvSpPr txBox="1"/>
          <p:nvPr/>
        </p:nvSpPr>
        <p:spPr>
          <a:xfrm>
            <a:off x="640080" y="1417319"/>
            <a:ext cx="5486401"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Temel İstatistikler</a:t>
            </a:r>
          </a:p>
        </p:txBody>
      </p:sp>
      <p:sp>
        <p:nvSpPr>
          <p:cNvPr id="319" name="TextBox 11"/>
          <p:cNvSpPr txBox="1"/>
          <p:nvPr/>
        </p:nvSpPr>
        <p:spPr>
          <a:xfrm>
            <a:off x="822960" y="1828800"/>
            <a:ext cx="5486401" cy="11946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300">
                <a:solidFill>
                  <a:srgbClr val="2E865F"/>
                </a:solidFill>
              </a:defRPr>
            </a:pPr>
            <a:r>
              <a:t>■  </a:t>
            </a:r>
            <a:r>
              <a:rPr b="0">
                <a:solidFill>
                  <a:srgbClr val="222222"/>
                </a:solidFill>
              </a:rPr>
              <a:t>Silver katmandan 24.673 şarkı kaydı incelendi (streaming alt küme).</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Popularity dağılımı 0-100 arasında sağa çarpık, pek çok şarkı düşük popularity.</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Eksik değer oranı genel olarak düşük; track_genre tum kayitlarda mevcut.</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Tür bazli analiz: bazı türler (pop, rock, hip-hop) ortalama populariteyi yükseltir.</a:t>
            </a:r>
          </a:p>
        </p:txBody>
      </p:sp>
      <p:sp>
        <p:nvSpPr>
          <p:cNvPr id="320" name="TextBox 12"/>
          <p:cNvSpPr txBox="1"/>
          <p:nvPr/>
        </p:nvSpPr>
        <p:spPr>
          <a:xfrm>
            <a:off x="640080" y="4663440"/>
            <a:ext cx="54864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İlişkiler</a:t>
            </a:r>
          </a:p>
        </p:txBody>
      </p:sp>
      <p:sp>
        <p:nvSpPr>
          <p:cNvPr id="321" name="TextBox 13"/>
          <p:cNvSpPr txBox="1"/>
          <p:nvPr/>
        </p:nvSpPr>
        <p:spPr>
          <a:xfrm>
            <a:off x="822960" y="5074920"/>
            <a:ext cx="5486401" cy="8663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300">
                <a:solidFill>
                  <a:srgbClr val="2E865F"/>
                </a:solidFill>
              </a:defRPr>
            </a:pPr>
            <a:r>
              <a:t>■  </a:t>
            </a:r>
            <a:r>
              <a:rPr b="0">
                <a:solidFill>
                  <a:srgbClr val="222222"/>
                </a:solidFill>
              </a:rPr>
              <a:t>Energy ve loudness arasinda güçlü pozitif korelasyon.</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Acousticness energy ile negatif korelasyona sahip.</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Valence (mood) ve danceability arasında hafif pozitif ilişki.</a:t>
            </a:r>
          </a:p>
        </p:txBody>
      </p:sp>
      <p:sp>
        <p:nvSpPr>
          <p:cNvPr id="322" name="Rectangle 14"/>
          <p:cNvSpPr/>
          <p:nvPr/>
        </p:nvSpPr>
        <p:spPr>
          <a:xfrm>
            <a:off x="6583680" y="1417319"/>
            <a:ext cx="5029201" cy="2377441"/>
          </a:xfrm>
          <a:prstGeom prst="rect">
            <a:avLst/>
          </a:prstGeom>
          <a:solidFill>
            <a:srgbClr val="FFFFFF"/>
          </a:solidFill>
          <a:ln w="6350">
            <a:solidFill>
              <a:srgbClr val="D0D0D7"/>
            </a:solidFill>
          </a:ln>
        </p:spPr>
        <p:txBody>
          <a:bodyPr lIns="45719" rIns="45719" anchor="ctr"/>
          <a:lstStyle/>
          <a:p>
            <a:pPr algn="ctr">
              <a:defRPr>
                <a:solidFill>
                  <a:srgbClr val="FFFFFF"/>
                </a:solidFill>
              </a:defRPr>
            </a:pPr>
          </a:p>
        </p:txBody>
      </p:sp>
      <p:pic>
        <p:nvPicPr>
          <p:cNvPr id="323" name="Picture 15" descr="Picture 15"/>
          <p:cNvPicPr>
            <a:picLocks noChangeAspect="1"/>
          </p:cNvPicPr>
          <p:nvPr/>
        </p:nvPicPr>
        <p:blipFill>
          <a:blip r:embed="rId2">
            <a:extLst/>
          </a:blip>
          <a:stretch>
            <a:fillRect/>
          </a:stretch>
        </p:blipFill>
        <p:spPr>
          <a:xfrm>
            <a:off x="6675119" y="1463039"/>
            <a:ext cx="4846321" cy="2194561"/>
          </a:xfrm>
          <a:prstGeom prst="rect">
            <a:avLst/>
          </a:prstGeom>
          <a:ln w="12700">
            <a:miter lim="400000"/>
          </a:ln>
        </p:spPr>
      </p:pic>
      <p:sp>
        <p:nvSpPr>
          <p:cNvPr id="324" name="TextBox 16"/>
          <p:cNvSpPr txBox="1"/>
          <p:nvPr/>
        </p:nvSpPr>
        <p:spPr>
          <a:xfrm>
            <a:off x="6583680" y="3703320"/>
            <a:ext cx="5029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66666"/>
                </a:solidFill>
              </a:defRPr>
            </a:lvl1pPr>
          </a:lstStyle>
          <a:p>
            <a:pPr/>
            <a:r>
              <a:t>Tempo Bucket Dagilimi</a:t>
            </a:r>
          </a:p>
        </p:txBody>
      </p:sp>
      <p:sp>
        <p:nvSpPr>
          <p:cNvPr id="325" name="Rectangle 17"/>
          <p:cNvSpPr/>
          <p:nvPr/>
        </p:nvSpPr>
        <p:spPr>
          <a:xfrm>
            <a:off x="6583680" y="3931920"/>
            <a:ext cx="5029201" cy="2377441"/>
          </a:xfrm>
          <a:prstGeom prst="rect">
            <a:avLst/>
          </a:prstGeom>
          <a:solidFill>
            <a:srgbClr val="FFFFFF"/>
          </a:solidFill>
          <a:ln w="6350">
            <a:solidFill>
              <a:srgbClr val="D0D0D7"/>
            </a:solidFill>
          </a:ln>
        </p:spPr>
        <p:txBody>
          <a:bodyPr lIns="45719" rIns="45719" anchor="ctr"/>
          <a:lstStyle/>
          <a:p>
            <a:pPr algn="ctr">
              <a:defRPr>
                <a:solidFill>
                  <a:srgbClr val="FFFFFF"/>
                </a:solidFill>
              </a:defRPr>
            </a:pPr>
          </a:p>
        </p:txBody>
      </p:sp>
      <p:pic>
        <p:nvPicPr>
          <p:cNvPr id="326" name="Picture 18" descr="Picture 18"/>
          <p:cNvPicPr>
            <a:picLocks noChangeAspect="1"/>
          </p:cNvPicPr>
          <p:nvPr/>
        </p:nvPicPr>
        <p:blipFill>
          <a:blip r:embed="rId3">
            <a:extLst/>
          </a:blip>
          <a:stretch>
            <a:fillRect/>
          </a:stretch>
        </p:blipFill>
        <p:spPr>
          <a:xfrm>
            <a:off x="6675119" y="3977638"/>
            <a:ext cx="4846321" cy="2194562"/>
          </a:xfrm>
          <a:prstGeom prst="rect">
            <a:avLst/>
          </a:prstGeom>
          <a:ln w="12700">
            <a:miter lim="400000"/>
          </a:ln>
        </p:spPr>
      </p:pic>
      <p:sp>
        <p:nvSpPr>
          <p:cNvPr id="327" name="TextBox 19"/>
          <p:cNvSpPr txBox="1"/>
          <p:nvPr/>
        </p:nvSpPr>
        <p:spPr>
          <a:xfrm>
            <a:off x="6583680" y="6217920"/>
            <a:ext cx="5029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66666"/>
                </a:solidFill>
              </a:defRPr>
            </a:lvl1pPr>
          </a:lstStyle>
          <a:p>
            <a:pPr/>
            <a:r>
              <a:t>Mood / Popularity Iliskisi</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9"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330"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331"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Adim 5 — Özellik Mühendisliği</a:t>
            </a:r>
          </a:p>
        </p:txBody>
      </p:sp>
      <p:sp>
        <p:nvSpPr>
          <p:cNvPr id="332"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Bolum 9  |  Feature Engineering</a:t>
            </a:r>
          </a:p>
        </p:txBody>
      </p:sp>
      <p:sp>
        <p:nvSpPr>
          <p:cNvPr id="333"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334"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335"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12 / 20</a:t>
            </a:r>
          </a:p>
        </p:txBody>
      </p:sp>
      <p:grpSp>
        <p:nvGrpSpPr>
          <p:cNvPr id="338" name="Rectangle 8"/>
          <p:cNvGrpSpPr/>
          <p:nvPr/>
        </p:nvGrpSpPr>
        <p:grpSpPr>
          <a:xfrm>
            <a:off x="9722815" y="201167"/>
            <a:ext cx="822961" cy="411482"/>
            <a:chOff x="0" y="0"/>
            <a:chExt cx="822960" cy="411480"/>
          </a:xfrm>
        </p:grpSpPr>
        <p:sp>
          <p:nvSpPr>
            <p:cNvPr id="336" name="Dikdörtgen"/>
            <p:cNvSpPr/>
            <p:nvPr/>
          </p:nvSpPr>
          <p:spPr>
            <a:xfrm>
              <a:off x="-1" y="-1"/>
              <a:ext cx="822962" cy="411482"/>
            </a:xfrm>
            <a:prstGeom prst="rect">
              <a:avLst/>
            </a:prstGeom>
            <a:solidFill>
              <a:srgbClr val="2E865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37" name="Adım 5"/>
            <p:cNvSpPr txBox="1"/>
            <p:nvPr/>
          </p:nvSpPr>
          <p:spPr>
            <a:xfrm>
              <a:off x="-1" y="122359"/>
              <a:ext cx="82296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FFFFFF"/>
                  </a:solidFill>
                </a:defRPr>
              </a:lvl1pPr>
            </a:lstStyle>
            <a:p>
              <a:pPr/>
              <a:r>
                <a:t>Adım 5</a:t>
              </a:r>
            </a:p>
          </p:txBody>
        </p:sp>
      </p:grpSp>
      <p:sp>
        <p:nvSpPr>
          <p:cNvPr id="339" name="TextBox 9"/>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ML modeline beslenecek anlamlı özelliklerin tasarlanması (Gold Features)</a:t>
            </a:r>
          </a:p>
        </p:txBody>
      </p:sp>
      <p:sp>
        <p:nvSpPr>
          <p:cNvPr id="340" name="TextBox 10"/>
          <p:cNvSpPr txBox="1"/>
          <p:nvPr/>
        </p:nvSpPr>
        <p:spPr>
          <a:xfrm>
            <a:off x="640080" y="1463039"/>
            <a:ext cx="5669280"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Üretilen Özellikler</a:t>
            </a:r>
          </a:p>
        </p:txBody>
      </p:sp>
      <p:sp>
        <p:nvSpPr>
          <p:cNvPr id="341" name="TextBox 11"/>
          <p:cNvSpPr txBox="1"/>
          <p:nvPr/>
        </p:nvSpPr>
        <p:spPr>
          <a:xfrm>
            <a:off x="822960" y="1874518"/>
            <a:ext cx="5943601" cy="20795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300">
                <a:solidFill>
                  <a:srgbClr val="2E865F"/>
                </a:solidFill>
              </a:defRPr>
            </a:pPr>
            <a:r>
              <a:t>■  </a:t>
            </a:r>
            <a:r>
              <a:rPr b="0">
                <a:solidFill>
                  <a:srgbClr val="222222"/>
                </a:solidFill>
              </a:rPr>
              <a:t>artist_count: artists alanının ; ile bölünmüş eleman sayısı (şarkıdaki sanatçı sayısı).</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is_short_track: 150.000 ms (~2.5 dk) altındaki şarkılar için 0/1 bayrak.</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energy_dance_interaction: energy x danceability çarpımı (parti / hareketlilik etkileşimi).</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mood_index: valence x energy çarpımı (şarkının coşkulu / mood göstergesi).</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is_feat: track_name içinde 'feat' veya 'ft' geçip geçmediği (regex bayrağı).</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track_genre_index: StringIndexer ile track_genre kategorik kodlaması (ML için).</a:t>
            </a:r>
          </a:p>
        </p:txBody>
      </p:sp>
      <p:sp>
        <p:nvSpPr>
          <p:cNvPr id="342" name="Rectangle 12"/>
          <p:cNvSpPr/>
          <p:nvPr/>
        </p:nvSpPr>
        <p:spPr>
          <a:xfrm>
            <a:off x="6766559" y="1417319"/>
            <a:ext cx="4846321" cy="5029201"/>
          </a:xfrm>
          <a:prstGeom prst="rect">
            <a:avLst/>
          </a:prstGeom>
          <a:solidFill>
            <a:srgbClr val="F5F5F7"/>
          </a:solidFill>
          <a:ln w="12700">
            <a:miter lim="400000"/>
          </a:ln>
        </p:spPr>
        <p:txBody>
          <a:bodyPr lIns="45719" rIns="45719" anchor="ctr"/>
          <a:lstStyle/>
          <a:p>
            <a:pPr algn="ctr">
              <a:defRPr>
                <a:solidFill>
                  <a:srgbClr val="FFFFFF"/>
                </a:solidFill>
              </a:defRPr>
            </a:pPr>
          </a:p>
        </p:txBody>
      </p:sp>
      <p:sp>
        <p:nvSpPr>
          <p:cNvPr id="343" name="TextBox 13"/>
          <p:cNvSpPr txBox="1"/>
          <p:nvPr/>
        </p:nvSpPr>
        <p:spPr>
          <a:xfrm>
            <a:off x="6903719" y="1508760"/>
            <a:ext cx="4572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1F3A5F"/>
                </a:solidFill>
              </a:defRPr>
            </a:lvl1pPr>
          </a:lstStyle>
          <a:p>
            <a:pPr/>
            <a:r>
              <a:t>Tasarım Mantığı</a:t>
            </a:r>
          </a:p>
        </p:txBody>
      </p:sp>
      <p:sp>
        <p:nvSpPr>
          <p:cNvPr id="344" name="TextBox 14"/>
          <p:cNvSpPr txBox="1"/>
          <p:nvPr/>
        </p:nvSpPr>
        <p:spPr>
          <a:xfrm>
            <a:off x="6903719" y="1920239"/>
            <a:ext cx="4572001" cy="17755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200">
                <a:solidFill>
                  <a:srgbClr val="2E865F"/>
                </a:solidFill>
              </a:defRPr>
            </a:pPr>
            <a:r>
              <a:t>■  </a:t>
            </a:r>
            <a:r>
              <a:rPr b="0">
                <a:solidFill>
                  <a:srgbClr val="222222"/>
                </a:solidFill>
              </a:rPr>
              <a:t>artist_count ve is_feat şarkının işbirlikçi / düet yapısını modele aktarır.</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energy x danceability ve valence x energy carpimlari ile lineer dışı ilişkiler yakalanır.</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is_short_track esigi (150.000 ms) kısa trend şarkılarını ayrı bir sinyal olarak işaretler.</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Tüm özellikler Delta Lake Gold katmanında saklandı: delta/gold/spotify_tracks_features.</a:t>
            </a:r>
          </a:p>
        </p:txBody>
      </p:sp>
      <p:sp>
        <p:nvSpPr>
          <p:cNvPr id="345" name="TextBox 15"/>
          <p:cNvSpPr txBox="1"/>
          <p:nvPr/>
        </p:nvSpPr>
        <p:spPr>
          <a:xfrm>
            <a:off x="640079" y="5989320"/>
            <a:ext cx="10911537"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666666"/>
                </a:solidFill>
                <a:latin typeface="Consolas"/>
                <a:ea typeface="Consolas"/>
                <a:cs typeface="Consolas"/>
                <a:sym typeface="Consolas"/>
              </a:defRPr>
            </a:lvl1pPr>
          </a:lstStyle>
          <a:p>
            <a:pPr/>
            <a:r>
              <a:t>Notebook: notebooks/5_Feature_Engineering.ipynb</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7"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348"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349"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Adim 6 — Makine Öğrenmesi Modelleri</a:t>
            </a:r>
          </a:p>
        </p:txBody>
      </p:sp>
      <p:sp>
        <p:nvSpPr>
          <p:cNvPr id="350"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Bölüm 10  |  Modelleme</a:t>
            </a:r>
          </a:p>
        </p:txBody>
      </p:sp>
      <p:sp>
        <p:nvSpPr>
          <p:cNvPr id="351"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352"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353"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13 / 20</a:t>
            </a:r>
          </a:p>
        </p:txBody>
      </p:sp>
      <p:grpSp>
        <p:nvGrpSpPr>
          <p:cNvPr id="356" name="Rectangle 8"/>
          <p:cNvGrpSpPr/>
          <p:nvPr/>
        </p:nvGrpSpPr>
        <p:grpSpPr>
          <a:xfrm>
            <a:off x="9452450" y="233171"/>
            <a:ext cx="822961" cy="411482"/>
            <a:chOff x="0" y="0"/>
            <a:chExt cx="822960" cy="411480"/>
          </a:xfrm>
        </p:grpSpPr>
        <p:sp>
          <p:nvSpPr>
            <p:cNvPr id="354" name="Dikdörtgen"/>
            <p:cNvSpPr/>
            <p:nvPr/>
          </p:nvSpPr>
          <p:spPr>
            <a:xfrm>
              <a:off x="-1" y="-1"/>
              <a:ext cx="822962" cy="411482"/>
            </a:xfrm>
            <a:prstGeom prst="rect">
              <a:avLst/>
            </a:prstGeom>
            <a:solidFill>
              <a:srgbClr val="2E865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55" name="Adım 6"/>
            <p:cNvSpPr txBox="1"/>
            <p:nvPr/>
          </p:nvSpPr>
          <p:spPr>
            <a:xfrm>
              <a:off x="-1" y="122359"/>
              <a:ext cx="82296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FFFFFF"/>
                  </a:solidFill>
                </a:defRPr>
              </a:lvl1pPr>
            </a:lstStyle>
            <a:p>
              <a:pPr/>
              <a:r>
                <a:t>Adım 6</a:t>
              </a:r>
            </a:p>
          </p:txBody>
        </p:sp>
      </p:grpSp>
      <p:sp>
        <p:nvSpPr>
          <p:cNvPr id="357" name="TextBox 9"/>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Regresyon problemi — 5 farklı model karşılaştırıldı</a:t>
            </a:r>
          </a:p>
        </p:txBody>
      </p:sp>
      <p:sp>
        <p:nvSpPr>
          <p:cNvPr id="358" name="Rectangle 10"/>
          <p:cNvSpPr/>
          <p:nvPr/>
        </p:nvSpPr>
        <p:spPr>
          <a:xfrm>
            <a:off x="449426" y="1463039"/>
            <a:ext cx="2148841" cy="457201"/>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359" name="TextBox 11"/>
          <p:cNvSpPr txBox="1"/>
          <p:nvPr/>
        </p:nvSpPr>
        <p:spPr>
          <a:xfrm>
            <a:off x="449426" y="1613207"/>
            <a:ext cx="21488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Model 1</a:t>
            </a:r>
          </a:p>
        </p:txBody>
      </p:sp>
      <p:sp>
        <p:nvSpPr>
          <p:cNvPr id="360" name="Rectangle 12"/>
          <p:cNvSpPr/>
          <p:nvPr/>
        </p:nvSpPr>
        <p:spPr>
          <a:xfrm>
            <a:off x="449426" y="1920239"/>
            <a:ext cx="2148841" cy="2011680"/>
          </a:xfrm>
          <a:prstGeom prst="rect">
            <a:avLst/>
          </a:prstGeom>
          <a:solidFill>
            <a:srgbClr val="F5F5F7"/>
          </a:solidFill>
          <a:ln w="12700">
            <a:miter lim="400000"/>
          </a:ln>
        </p:spPr>
        <p:txBody>
          <a:bodyPr lIns="45719" rIns="45719" anchor="ctr"/>
          <a:lstStyle/>
          <a:p>
            <a:pPr algn="ctr">
              <a:defRPr>
                <a:solidFill>
                  <a:srgbClr val="FFFFFF"/>
                </a:solidFill>
              </a:defRPr>
            </a:pPr>
          </a:p>
        </p:txBody>
      </p:sp>
      <p:sp>
        <p:nvSpPr>
          <p:cNvPr id="361" name="TextBox 13"/>
          <p:cNvSpPr txBox="1"/>
          <p:nvPr/>
        </p:nvSpPr>
        <p:spPr>
          <a:xfrm>
            <a:off x="540866" y="2161847"/>
            <a:ext cx="19659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F3A5F"/>
                </a:solidFill>
              </a:defRPr>
            </a:lvl1pPr>
          </a:lstStyle>
          <a:p>
            <a:pPr/>
            <a:r>
              <a:t>Linear Regression</a:t>
            </a:r>
          </a:p>
        </p:txBody>
      </p:sp>
      <p:sp>
        <p:nvSpPr>
          <p:cNvPr id="362" name="TextBox 14"/>
          <p:cNvSpPr txBox="1"/>
          <p:nvPr/>
        </p:nvSpPr>
        <p:spPr>
          <a:xfrm>
            <a:off x="540866" y="2514600"/>
            <a:ext cx="196596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222"/>
                </a:solidFill>
              </a:defRPr>
            </a:lvl1pPr>
          </a:lstStyle>
          <a:p>
            <a:pPr/>
            <a:r>
              <a:t>Temel çizgisel ilişki; baseline.</a:t>
            </a:r>
          </a:p>
        </p:txBody>
      </p:sp>
      <p:sp>
        <p:nvSpPr>
          <p:cNvPr id="363" name="TextBox 15"/>
          <p:cNvSpPr txBox="1"/>
          <p:nvPr/>
        </p:nvSpPr>
        <p:spPr>
          <a:xfrm>
            <a:off x="540866" y="3154679"/>
            <a:ext cx="196596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66666"/>
                </a:solidFill>
              </a:defRPr>
            </a:lvl1pPr>
          </a:lstStyle>
          <a:p>
            <a:pPr/>
            <a:r>
              <a:t>Hızlı, yorumlaması kolay.</a:t>
            </a:r>
          </a:p>
        </p:txBody>
      </p:sp>
      <p:sp>
        <p:nvSpPr>
          <p:cNvPr id="364" name="Rectangle 16"/>
          <p:cNvSpPr/>
          <p:nvPr/>
        </p:nvSpPr>
        <p:spPr>
          <a:xfrm>
            <a:off x="2735427" y="1463039"/>
            <a:ext cx="2148840" cy="457201"/>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365" name="TextBox 17"/>
          <p:cNvSpPr txBox="1"/>
          <p:nvPr/>
        </p:nvSpPr>
        <p:spPr>
          <a:xfrm>
            <a:off x="2735427" y="1613207"/>
            <a:ext cx="214884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Model 2</a:t>
            </a:r>
          </a:p>
        </p:txBody>
      </p:sp>
      <p:sp>
        <p:nvSpPr>
          <p:cNvPr id="366" name="Rectangle 18"/>
          <p:cNvSpPr/>
          <p:nvPr/>
        </p:nvSpPr>
        <p:spPr>
          <a:xfrm>
            <a:off x="2735427" y="1920239"/>
            <a:ext cx="2148840" cy="2011680"/>
          </a:xfrm>
          <a:prstGeom prst="rect">
            <a:avLst/>
          </a:prstGeom>
          <a:solidFill>
            <a:srgbClr val="F5F5F7"/>
          </a:solidFill>
          <a:ln w="12700">
            <a:miter lim="400000"/>
          </a:ln>
        </p:spPr>
        <p:txBody>
          <a:bodyPr lIns="45719" rIns="45719" anchor="ctr"/>
          <a:lstStyle/>
          <a:p>
            <a:pPr algn="ctr">
              <a:defRPr>
                <a:solidFill>
                  <a:srgbClr val="FFFFFF"/>
                </a:solidFill>
              </a:defRPr>
            </a:pPr>
          </a:p>
        </p:txBody>
      </p:sp>
      <p:sp>
        <p:nvSpPr>
          <p:cNvPr id="367" name="TextBox 19"/>
          <p:cNvSpPr txBox="1"/>
          <p:nvPr/>
        </p:nvSpPr>
        <p:spPr>
          <a:xfrm>
            <a:off x="2826866" y="2161847"/>
            <a:ext cx="19659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F3A5F"/>
                </a:solidFill>
              </a:defRPr>
            </a:lvl1pPr>
          </a:lstStyle>
          <a:p>
            <a:pPr/>
            <a:r>
              <a:t>Decision Tree Regressor</a:t>
            </a:r>
          </a:p>
        </p:txBody>
      </p:sp>
      <p:sp>
        <p:nvSpPr>
          <p:cNvPr id="368" name="TextBox 20"/>
          <p:cNvSpPr txBox="1"/>
          <p:nvPr/>
        </p:nvSpPr>
        <p:spPr>
          <a:xfrm>
            <a:off x="2826866" y="2514600"/>
            <a:ext cx="196596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222"/>
                </a:solidFill>
              </a:defRPr>
            </a:lvl1pPr>
          </a:lstStyle>
          <a:p>
            <a:pPr/>
            <a:r>
              <a:t>Non-lineer karar ağacı.</a:t>
            </a:r>
          </a:p>
        </p:txBody>
      </p:sp>
      <p:sp>
        <p:nvSpPr>
          <p:cNvPr id="369" name="TextBox 21"/>
          <p:cNvSpPr txBox="1"/>
          <p:nvPr/>
        </p:nvSpPr>
        <p:spPr>
          <a:xfrm>
            <a:off x="2826866" y="3154679"/>
            <a:ext cx="196596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66666"/>
                </a:solidFill>
              </a:defRPr>
            </a:lvl1pPr>
          </a:lstStyle>
          <a:p>
            <a:pPr/>
            <a:r>
              <a:t>Aşırı öğrenmeye yatkın.</a:t>
            </a:r>
          </a:p>
        </p:txBody>
      </p:sp>
      <p:sp>
        <p:nvSpPr>
          <p:cNvPr id="370" name="Rectangle 22"/>
          <p:cNvSpPr/>
          <p:nvPr/>
        </p:nvSpPr>
        <p:spPr>
          <a:xfrm>
            <a:off x="5021426" y="1463039"/>
            <a:ext cx="2148841" cy="457201"/>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371" name="TextBox 23"/>
          <p:cNvSpPr txBox="1"/>
          <p:nvPr/>
        </p:nvSpPr>
        <p:spPr>
          <a:xfrm>
            <a:off x="5021426" y="1613207"/>
            <a:ext cx="21488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Model 3</a:t>
            </a:r>
          </a:p>
        </p:txBody>
      </p:sp>
      <p:sp>
        <p:nvSpPr>
          <p:cNvPr id="372" name="Rectangle 24"/>
          <p:cNvSpPr/>
          <p:nvPr/>
        </p:nvSpPr>
        <p:spPr>
          <a:xfrm>
            <a:off x="5021426" y="1920239"/>
            <a:ext cx="2148841" cy="2011680"/>
          </a:xfrm>
          <a:prstGeom prst="rect">
            <a:avLst/>
          </a:prstGeom>
          <a:solidFill>
            <a:srgbClr val="F5F5F7"/>
          </a:solidFill>
          <a:ln w="12700">
            <a:miter lim="400000"/>
          </a:ln>
        </p:spPr>
        <p:txBody>
          <a:bodyPr lIns="45719" rIns="45719" anchor="ctr"/>
          <a:lstStyle/>
          <a:p>
            <a:pPr algn="ctr">
              <a:defRPr>
                <a:solidFill>
                  <a:srgbClr val="FFFFFF"/>
                </a:solidFill>
              </a:defRPr>
            </a:pPr>
          </a:p>
        </p:txBody>
      </p:sp>
      <p:sp>
        <p:nvSpPr>
          <p:cNvPr id="373" name="TextBox 25"/>
          <p:cNvSpPr txBox="1"/>
          <p:nvPr/>
        </p:nvSpPr>
        <p:spPr>
          <a:xfrm>
            <a:off x="5112866" y="2161847"/>
            <a:ext cx="19659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F3A5F"/>
                </a:solidFill>
              </a:defRPr>
            </a:lvl1pPr>
          </a:lstStyle>
          <a:p>
            <a:pPr/>
            <a:r>
              <a:t>Random Forest Regressor</a:t>
            </a:r>
          </a:p>
        </p:txBody>
      </p:sp>
      <p:sp>
        <p:nvSpPr>
          <p:cNvPr id="374" name="TextBox 26"/>
          <p:cNvSpPr txBox="1"/>
          <p:nvPr/>
        </p:nvSpPr>
        <p:spPr>
          <a:xfrm>
            <a:off x="5112866" y="2514600"/>
            <a:ext cx="1965962"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222"/>
                </a:solidFill>
              </a:defRPr>
            </a:lvl1pPr>
          </a:lstStyle>
          <a:p>
            <a:pPr/>
            <a:r>
              <a:t>Birden çok karar ağacının ortalaması.</a:t>
            </a:r>
          </a:p>
        </p:txBody>
      </p:sp>
      <p:sp>
        <p:nvSpPr>
          <p:cNvPr id="375" name="TextBox 27"/>
          <p:cNvSpPr txBox="1"/>
          <p:nvPr/>
        </p:nvSpPr>
        <p:spPr>
          <a:xfrm>
            <a:off x="5112866" y="3154679"/>
            <a:ext cx="196596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66666"/>
                </a:solidFill>
              </a:defRPr>
            </a:lvl1pPr>
          </a:lstStyle>
          <a:p>
            <a:pPr/>
            <a:r>
              <a:t>Variance'i düşürür,, güçlüdür..</a:t>
            </a:r>
          </a:p>
        </p:txBody>
      </p:sp>
      <p:sp>
        <p:nvSpPr>
          <p:cNvPr id="376" name="Rectangle 28"/>
          <p:cNvSpPr/>
          <p:nvPr/>
        </p:nvSpPr>
        <p:spPr>
          <a:xfrm>
            <a:off x="7307426" y="1463039"/>
            <a:ext cx="2148841" cy="457201"/>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377" name="TextBox 29"/>
          <p:cNvSpPr txBox="1"/>
          <p:nvPr/>
        </p:nvSpPr>
        <p:spPr>
          <a:xfrm>
            <a:off x="7307426" y="1613207"/>
            <a:ext cx="21488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Model 4</a:t>
            </a:r>
          </a:p>
        </p:txBody>
      </p:sp>
      <p:sp>
        <p:nvSpPr>
          <p:cNvPr id="378" name="Rectangle 30"/>
          <p:cNvSpPr/>
          <p:nvPr/>
        </p:nvSpPr>
        <p:spPr>
          <a:xfrm>
            <a:off x="7307426" y="1920239"/>
            <a:ext cx="2148841" cy="2011680"/>
          </a:xfrm>
          <a:prstGeom prst="rect">
            <a:avLst/>
          </a:prstGeom>
          <a:solidFill>
            <a:srgbClr val="F5F5F7"/>
          </a:solidFill>
          <a:ln w="12700">
            <a:miter lim="400000"/>
          </a:ln>
        </p:spPr>
        <p:txBody>
          <a:bodyPr lIns="45719" rIns="45719" anchor="ctr"/>
          <a:lstStyle/>
          <a:p>
            <a:pPr algn="ctr">
              <a:defRPr>
                <a:solidFill>
                  <a:srgbClr val="FFFFFF"/>
                </a:solidFill>
              </a:defRPr>
            </a:pPr>
          </a:p>
        </p:txBody>
      </p:sp>
      <p:sp>
        <p:nvSpPr>
          <p:cNvPr id="379" name="TextBox 31"/>
          <p:cNvSpPr txBox="1"/>
          <p:nvPr/>
        </p:nvSpPr>
        <p:spPr>
          <a:xfrm>
            <a:off x="7398866" y="2161847"/>
            <a:ext cx="19659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F3A5F"/>
                </a:solidFill>
              </a:defRPr>
            </a:lvl1pPr>
          </a:lstStyle>
          <a:p>
            <a:pPr/>
            <a:r>
              <a:t>Gradient Boosted Trees (GBT)</a:t>
            </a:r>
          </a:p>
        </p:txBody>
      </p:sp>
      <p:sp>
        <p:nvSpPr>
          <p:cNvPr id="380" name="TextBox 32"/>
          <p:cNvSpPr txBox="1"/>
          <p:nvPr/>
        </p:nvSpPr>
        <p:spPr>
          <a:xfrm>
            <a:off x="7398866" y="2514600"/>
            <a:ext cx="196596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222"/>
                </a:solidFill>
              </a:defRPr>
            </a:lvl1pPr>
          </a:lstStyle>
          <a:p>
            <a:pPr/>
            <a:r>
              <a:t>Iteratif olarak hatayı azaltan boost.</a:t>
            </a:r>
          </a:p>
        </p:txBody>
      </p:sp>
      <p:sp>
        <p:nvSpPr>
          <p:cNvPr id="381" name="TextBox 33"/>
          <p:cNvSpPr txBox="1"/>
          <p:nvPr/>
        </p:nvSpPr>
        <p:spPr>
          <a:xfrm>
            <a:off x="7398866" y="3154679"/>
            <a:ext cx="196596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66666"/>
                </a:solidFill>
              </a:defRPr>
            </a:lvl1pPr>
          </a:lstStyle>
          <a:p>
            <a:pPr/>
            <a:r>
              <a:t>Genellikle en yüksek doğruluk.</a:t>
            </a:r>
          </a:p>
        </p:txBody>
      </p:sp>
      <p:sp>
        <p:nvSpPr>
          <p:cNvPr id="382" name="Rectangle 34"/>
          <p:cNvSpPr/>
          <p:nvPr/>
        </p:nvSpPr>
        <p:spPr>
          <a:xfrm>
            <a:off x="9593426" y="1463039"/>
            <a:ext cx="2148841" cy="457201"/>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383" name="TextBox 35"/>
          <p:cNvSpPr txBox="1"/>
          <p:nvPr/>
        </p:nvSpPr>
        <p:spPr>
          <a:xfrm>
            <a:off x="9593426" y="1613207"/>
            <a:ext cx="21488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Model 5</a:t>
            </a:r>
          </a:p>
        </p:txBody>
      </p:sp>
      <p:sp>
        <p:nvSpPr>
          <p:cNvPr id="384" name="Rectangle 36"/>
          <p:cNvSpPr/>
          <p:nvPr/>
        </p:nvSpPr>
        <p:spPr>
          <a:xfrm>
            <a:off x="9593426" y="1920239"/>
            <a:ext cx="2148841" cy="2011680"/>
          </a:xfrm>
          <a:prstGeom prst="rect">
            <a:avLst/>
          </a:prstGeom>
          <a:solidFill>
            <a:srgbClr val="F5F5F7"/>
          </a:solidFill>
          <a:ln w="12700">
            <a:miter lim="400000"/>
          </a:ln>
        </p:spPr>
        <p:txBody>
          <a:bodyPr lIns="45719" rIns="45719" anchor="ctr"/>
          <a:lstStyle/>
          <a:p>
            <a:pPr algn="ctr">
              <a:defRPr>
                <a:solidFill>
                  <a:srgbClr val="FFFFFF"/>
                </a:solidFill>
              </a:defRPr>
            </a:pPr>
          </a:p>
        </p:txBody>
      </p:sp>
      <p:sp>
        <p:nvSpPr>
          <p:cNvPr id="385" name="TextBox 37"/>
          <p:cNvSpPr txBox="1"/>
          <p:nvPr/>
        </p:nvSpPr>
        <p:spPr>
          <a:xfrm>
            <a:off x="9684866" y="2161847"/>
            <a:ext cx="196596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F3A5F"/>
                </a:solidFill>
              </a:defRPr>
            </a:lvl1pPr>
          </a:lstStyle>
          <a:p>
            <a:pPr/>
            <a:r>
              <a:t>Generalized Linear Regression</a:t>
            </a:r>
          </a:p>
        </p:txBody>
      </p:sp>
      <p:sp>
        <p:nvSpPr>
          <p:cNvPr id="386" name="TextBox 38"/>
          <p:cNvSpPr txBox="1"/>
          <p:nvPr/>
        </p:nvSpPr>
        <p:spPr>
          <a:xfrm>
            <a:off x="9684866" y="2514600"/>
            <a:ext cx="196596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100">
                <a:solidFill>
                  <a:srgbClr val="222222"/>
                </a:solidFill>
              </a:defRPr>
            </a:lvl1pPr>
          </a:lstStyle>
          <a:p>
            <a:pPr/>
            <a:r>
              <a:t>Esnek dağılım ailesi (Gaussian vb.).</a:t>
            </a:r>
          </a:p>
        </p:txBody>
      </p:sp>
      <p:sp>
        <p:nvSpPr>
          <p:cNvPr id="387" name="TextBox 39"/>
          <p:cNvSpPr txBox="1"/>
          <p:nvPr/>
        </p:nvSpPr>
        <p:spPr>
          <a:xfrm>
            <a:off x="9684866" y="3154679"/>
            <a:ext cx="196596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666666"/>
                </a:solidFill>
              </a:defRPr>
            </a:lvl1pPr>
          </a:lstStyle>
          <a:p>
            <a:pPr/>
            <a:r>
              <a:t>Lineer'in genelleştirilmiş hali.</a:t>
            </a:r>
          </a:p>
        </p:txBody>
      </p:sp>
      <p:sp>
        <p:nvSpPr>
          <p:cNvPr id="388" name="TextBox 40"/>
          <p:cNvSpPr txBox="1"/>
          <p:nvPr/>
        </p:nvSpPr>
        <p:spPr>
          <a:xfrm>
            <a:off x="640079" y="4023359"/>
            <a:ext cx="1091153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Ortak Eğitim Akışı</a:t>
            </a:r>
          </a:p>
        </p:txBody>
      </p:sp>
      <p:sp>
        <p:nvSpPr>
          <p:cNvPr id="389" name="TextBox 41"/>
          <p:cNvSpPr txBox="1"/>
          <p:nvPr/>
        </p:nvSpPr>
        <p:spPr>
          <a:xfrm>
            <a:off x="822960" y="4434840"/>
            <a:ext cx="10545776" cy="17482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200">
                <a:solidFill>
                  <a:srgbClr val="2E865F"/>
                </a:solidFill>
              </a:defRPr>
            </a:pPr>
            <a:r>
              <a:t>■  </a:t>
            </a:r>
            <a:r>
              <a:rPr b="0">
                <a:solidFill>
                  <a:srgbClr val="222222"/>
                </a:solidFill>
              </a:rPr>
              <a:t>Gold Features tablosu Spark ile okundu (delta/gold/spotify_tracks_features).</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Kategorik değişken track_genre, StringIndexer ile sayısal indekse çevrildi (Adim 5).</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VectorAssembler ile tüm özellikler tek bir vektör haline getirildi.</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Train / Test ayrımı yapılarak modeller eğitildi (Spark MLlib).</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Tahminler değerlendirildi: RMSE, MAE, R^2 ve residual analizleri üretildi.</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Tüm runlar MLflow'a loglandı.</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1"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392"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393"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Adim 6 — Model Karşılastırma Sonuçları</a:t>
            </a:r>
          </a:p>
        </p:txBody>
      </p:sp>
      <p:sp>
        <p:nvSpPr>
          <p:cNvPr id="394"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Bölüm 11  |  Sonuçlar</a:t>
            </a:r>
          </a:p>
        </p:txBody>
      </p:sp>
      <p:sp>
        <p:nvSpPr>
          <p:cNvPr id="395"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396"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397"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14 / 20</a:t>
            </a:r>
          </a:p>
        </p:txBody>
      </p:sp>
      <p:grpSp>
        <p:nvGrpSpPr>
          <p:cNvPr id="400" name="Rectangle 8"/>
          <p:cNvGrpSpPr/>
          <p:nvPr/>
        </p:nvGrpSpPr>
        <p:grpSpPr>
          <a:xfrm>
            <a:off x="9555446" y="283973"/>
            <a:ext cx="822961" cy="411481"/>
            <a:chOff x="0" y="0"/>
            <a:chExt cx="822960" cy="411480"/>
          </a:xfrm>
        </p:grpSpPr>
        <p:sp>
          <p:nvSpPr>
            <p:cNvPr id="398" name="Dikdörtgen"/>
            <p:cNvSpPr/>
            <p:nvPr/>
          </p:nvSpPr>
          <p:spPr>
            <a:xfrm>
              <a:off x="-1" y="-1"/>
              <a:ext cx="822962" cy="411482"/>
            </a:xfrm>
            <a:prstGeom prst="rect">
              <a:avLst/>
            </a:prstGeom>
            <a:solidFill>
              <a:srgbClr val="2E865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399" name="Adım 6"/>
            <p:cNvSpPr txBox="1"/>
            <p:nvPr/>
          </p:nvSpPr>
          <p:spPr>
            <a:xfrm>
              <a:off x="-1" y="122359"/>
              <a:ext cx="82296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FFFFFF"/>
                  </a:solidFill>
                </a:defRPr>
              </a:lvl1pPr>
            </a:lstStyle>
            <a:p>
              <a:pPr/>
              <a:r>
                <a:t>Adım 6</a:t>
              </a:r>
            </a:p>
          </p:txBody>
        </p:sp>
      </p:grpSp>
      <p:sp>
        <p:nvSpPr>
          <p:cNvPr id="401" name="TextBox 9"/>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5 regresyon modelinin RMSE / MAE / R^2 karşılaştırılması</a:t>
            </a:r>
          </a:p>
        </p:txBody>
      </p:sp>
      <p:graphicFrame>
        <p:nvGraphicFramePr>
          <p:cNvPr id="402" name="Table 10"/>
          <p:cNvGraphicFramePr/>
          <p:nvPr/>
        </p:nvGraphicFramePr>
        <p:xfrm>
          <a:off x="640080" y="1508760"/>
          <a:ext cx="5760721" cy="3108961"/>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440180"/>
                <a:gridCol w="1440180"/>
                <a:gridCol w="1440180"/>
                <a:gridCol w="1440180"/>
              </a:tblGrid>
              <a:tr h="518160">
                <a:tc>
                  <a:txBody>
                    <a:bodyPr/>
                    <a:lstStyle/>
                    <a:p>
                      <a:pPr algn="ctr">
                        <a:defRPr b="0" sz="1800">
                          <a:solidFill>
                            <a:srgbClr val="000000"/>
                          </a:solidFill>
                        </a:defRPr>
                      </a:pPr>
                      <a:r>
                        <a:rPr b="1" sz="1300">
                          <a:solidFill>
                            <a:srgbClr val="FFFFFF"/>
                          </a:solidFill>
                        </a:rPr>
                        <a:t>Model</a:t>
                      </a:r>
                    </a:p>
                  </a:txBody>
                  <a:tcPr marL="36576" marR="36576" marT="36576" marB="36576" anchor="t" anchorCtr="0" horzOverflow="overflow">
                    <a:solidFill>
                      <a:srgbClr val="1F3A5F"/>
                    </a:solidFill>
                  </a:tcPr>
                </a:tc>
                <a:tc>
                  <a:txBody>
                    <a:bodyPr/>
                    <a:lstStyle/>
                    <a:p>
                      <a:pPr algn="ctr">
                        <a:defRPr b="0" sz="1800">
                          <a:solidFill>
                            <a:srgbClr val="000000"/>
                          </a:solidFill>
                        </a:defRPr>
                      </a:pPr>
                      <a:r>
                        <a:rPr b="1" sz="1300">
                          <a:solidFill>
                            <a:srgbClr val="FFFFFF"/>
                          </a:solidFill>
                        </a:rPr>
                        <a:t>RMSE</a:t>
                      </a:r>
                    </a:p>
                  </a:txBody>
                  <a:tcPr marL="36576" marR="36576" marT="36576" marB="36576" anchor="t" anchorCtr="0" horzOverflow="overflow">
                    <a:solidFill>
                      <a:srgbClr val="1F3A5F"/>
                    </a:solidFill>
                  </a:tcPr>
                </a:tc>
                <a:tc>
                  <a:txBody>
                    <a:bodyPr/>
                    <a:lstStyle/>
                    <a:p>
                      <a:pPr algn="ctr">
                        <a:defRPr b="0" sz="1800">
                          <a:solidFill>
                            <a:srgbClr val="000000"/>
                          </a:solidFill>
                        </a:defRPr>
                      </a:pPr>
                      <a:r>
                        <a:rPr b="1" sz="1300">
                          <a:solidFill>
                            <a:srgbClr val="FFFFFF"/>
                          </a:solidFill>
                        </a:rPr>
                        <a:t>MAE</a:t>
                      </a:r>
                    </a:p>
                  </a:txBody>
                  <a:tcPr marL="36576" marR="36576" marT="36576" marB="36576" anchor="t" anchorCtr="0" horzOverflow="overflow">
                    <a:solidFill>
                      <a:srgbClr val="1F3A5F"/>
                    </a:solidFill>
                  </a:tcPr>
                </a:tc>
                <a:tc>
                  <a:txBody>
                    <a:bodyPr/>
                    <a:lstStyle/>
                    <a:p>
                      <a:pPr algn="ctr">
                        <a:defRPr b="0" sz="1800">
                          <a:solidFill>
                            <a:srgbClr val="000000"/>
                          </a:solidFill>
                        </a:defRPr>
                      </a:pPr>
                      <a:r>
                        <a:rPr b="1" sz="1300">
                          <a:solidFill>
                            <a:srgbClr val="FFFFFF"/>
                          </a:solidFill>
                        </a:rPr>
                        <a:t>R²</a:t>
                      </a:r>
                    </a:p>
                  </a:txBody>
                  <a:tcPr marL="36576" marR="36576" marT="36576" marB="36576" anchor="t" anchorCtr="0" horzOverflow="overflow">
                    <a:solidFill>
                      <a:srgbClr val="1F3A5F"/>
                    </a:solidFill>
                  </a:tcPr>
                </a:tc>
              </a:tr>
              <a:tr h="518160">
                <a:tc>
                  <a:txBody>
                    <a:bodyPr/>
                    <a:lstStyle/>
                    <a:p>
                      <a:pPr algn="l">
                        <a:defRPr sz="1800"/>
                      </a:pPr>
                      <a:r>
                        <a:rPr sz="1200">
                          <a:solidFill>
                            <a:srgbClr val="222222"/>
                          </a:solidFill>
                        </a:rPr>
                        <a:t>GBT Regressor</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16.77</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11.72</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0.420</a:t>
                      </a:r>
                    </a:p>
                  </a:txBody>
                  <a:tcPr marL="36576" marR="36576" marT="36576" marB="36576" anchor="t" anchorCtr="0" horzOverflow="overflow">
                    <a:solidFill>
                      <a:srgbClr val="FFFFFF"/>
                    </a:solidFill>
                  </a:tcPr>
                </a:tc>
              </a:tr>
              <a:tr h="518160">
                <a:tc>
                  <a:txBody>
                    <a:bodyPr/>
                    <a:lstStyle/>
                    <a:p>
                      <a:pPr algn="l">
                        <a:defRPr sz="1800"/>
                      </a:pPr>
                      <a:r>
                        <a:rPr sz="1200">
                          <a:solidFill>
                            <a:srgbClr val="222222"/>
                          </a:solidFill>
                        </a:rPr>
                        <a:t>Random Forest Regressor</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17.94</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13.36</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0.336</a:t>
                      </a:r>
                    </a:p>
                  </a:txBody>
                  <a:tcPr marL="36576" marR="36576" marT="36576" marB="36576" anchor="t" anchorCtr="0" horzOverflow="overflow">
                    <a:solidFill>
                      <a:srgbClr val="F5F5F7"/>
                    </a:solidFill>
                  </a:tcPr>
                </a:tc>
              </a:tr>
              <a:tr h="518160">
                <a:tc>
                  <a:txBody>
                    <a:bodyPr/>
                    <a:lstStyle/>
                    <a:p>
                      <a:pPr algn="l">
                        <a:defRPr sz="1800"/>
                      </a:pPr>
                      <a:r>
                        <a:rPr sz="1200">
                          <a:solidFill>
                            <a:srgbClr val="222222"/>
                          </a:solidFill>
                        </a:rPr>
                        <a:t>Decision Tree Regressor</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18.47</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13.24</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0.296</a:t>
                      </a:r>
                    </a:p>
                  </a:txBody>
                  <a:tcPr marL="36576" marR="36576" marT="36576" marB="36576" anchor="t" anchorCtr="0" horzOverflow="overflow">
                    <a:solidFill>
                      <a:srgbClr val="FFFFFF"/>
                    </a:solidFill>
                  </a:tcPr>
                </a:tc>
              </a:tr>
              <a:tr h="518160">
                <a:tc>
                  <a:txBody>
                    <a:bodyPr/>
                    <a:lstStyle/>
                    <a:p>
                      <a:pPr algn="l">
                        <a:defRPr sz="1800"/>
                      </a:pPr>
                      <a:r>
                        <a:rPr sz="1200">
                          <a:solidFill>
                            <a:srgbClr val="222222"/>
                          </a:solidFill>
                        </a:rPr>
                        <a:t>Linear Regression</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20.79</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17.17</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0.109</a:t>
                      </a:r>
                    </a:p>
                  </a:txBody>
                  <a:tcPr marL="36576" marR="36576" marT="36576" marB="36576" anchor="t" anchorCtr="0" horzOverflow="overflow">
                    <a:solidFill>
                      <a:srgbClr val="F5F5F7"/>
                    </a:solidFill>
                  </a:tcPr>
                </a:tc>
              </a:tr>
              <a:tr h="518160">
                <a:tc>
                  <a:txBody>
                    <a:bodyPr/>
                    <a:lstStyle/>
                    <a:p>
                      <a:pPr algn="l">
                        <a:defRPr sz="1800"/>
                      </a:pPr>
                      <a:r>
                        <a:rPr sz="1200">
                          <a:solidFill>
                            <a:srgbClr val="222222"/>
                          </a:solidFill>
                        </a:rPr>
                        <a:t>Generalized Linear Regression</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20.79</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17.17</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0.109</a:t>
                      </a:r>
                    </a:p>
                  </a:txBody>
                  <a:tcPr marL="36576" marR="36576" marT="36576" marB="36576" anchor="t" anchorCtr="0" horzOverflow="overflow">
                    <a:solidFill>
                      <a:srgbClr val="FFFFFF"/>
                    </a:solidFill>
                  </a:tcPr>
                </a:tc>
              </a:tr>
            </a:tbl>
          </a:graphicData>
        </a:graphic>
      </p:graphicFrame>
      <p:sp>
        <p:nvSpPr>
          <p:cNvPr id="403" name="TextBox 11"/>
          <p:cNvSpPr txBox="1"/>
          <p:nvPr/>
        </p:nvSpPr>
        <p:spPr>
          <a:xfrm>
            <a:off x="640079" y="4754879"/>
            <a:ext cx="576072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500">
                <a:solidFill>
                  <a:srgbClr val="2E865F"/>
                </a:solidFill>
              </a:defRPr>
            </a:lvl1pPr>
          </a:lstStyle>
          <a:p>
            <a:pPr/>
            <a:r>
              <a:t>En İyi Model: GBT Regressor</a:t>
            </a:r>
          </a:p>
        </p:txBody>
      </p:sp>
      <p:sp>
        <p:nvSpPr>
          <p:cNvPr id="404" name="TextBox 12"/>
          <p:cNvSpPr txBox="1"/>
          <p:nvPr/>
        </p:nvSpPr>
        <p:spPr>
          <a:xfrm>
            <a:off x="640079" y="5166359"/>
            <a:ext cx="5760722" cy="728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222222"/>
                </a:solidFill>
              </a:defRPr>
            </a:lvl1pPr>
          </a:lstStyle>
          <a:p>
            <a:pPr/>
            <a:r>
              <a:t>GBT Regressor en dusuk RMSE ve MAE değerlerini, en yüksek R^2 skorunu vermiştir. Iteratif boosting yapısı sayesinde lineer modellerin yakalayamadığı non-lineer ilişkileri öğrenmistir. Lineer ve Generalized Linear Regression modelleri aynı sonuca yakındır çünkü varsayılan ailede iki model örtüşür.</a:t>
            </a:r>
          </a:p>
        </p:txBody>
      </p:sp>
      <p:sp>
        <p:nvSpPr>
          <p:cNvPr id="405" name="Rectangle 13"/>
          <p:cNvSpPr/>
          <p:nvPr/>
        </p:nvSpPr>
        <p:spPr>
          <a:xfrm>
            <a:off x="6675119" y="1417319"/>
            <a:ext cx="4937761" cy="5029201"/>
          </a:xfrm>
          <a:prstGeom prst="rect">
            <a:avLst/>
          </a:prstGeom>
          <a:solidFill>
            <a:srgbClr val="FFFFFF"/>
          </a:solidFill>
          <a:ln w="6350">
            <a:solidFill>
              <a:srgbClr val="D0D0D7"/>
            </a:solidFill>
          </a:ln>
        </p:spPr>
        <p:txBody>
          <a:bodyPr lIns="45719" rIns="45719" anchor="ctr"/>
          <a:lstStyle/>
          <a:p>
            <a:pPr algn="ctr">
              <a:defRPr>
                <a:solidFill>
                  <a:srgbClr val="FFFFFF"/>
                </a:solidFill>
              </a:defRPr>
            </a:pPr>
          </a:p>
        </p:txBody>
      </p:sp>
      <p:pic>
        <p:nvPicPr>
          <p:cNvPr id="406" name="Picture 14" descr="Picture 14"/>
          <p:cNvPicPr>
            <a:picLocks noChangeAspect="1"/>
          </p:cNvPicPr>
          <p:nvPr/>
        </p:nvPicPr>
        <p:blipFill>
          <a:blip r:embed="rId2">
            <a:extLst/>
          </a:blip>
          <a:stretch>
            <a:fillRect/>
          </a:stretch>
        </p:blipFill>
        <p:spPr>
          <a:xfrm>
            <a:off x="6766559" y="1554480"/>
            <a:ext cx="4754881" cy="4480560"/>
          </a:xfrm>
          <a:prstGeom prst="rect">
            <a:avLst/>
          </a:prstGeom>
          <a:ln w="12700">
            <a:miter lim="400000"/>
          </a:ln>
        </p:spPr>
      </p:pic>
      <p:sp>
        <p:nvSpPr>
          <p:cNvPr id="407" name="TextBox 15"/>
          <p:cNvSpPr txBox="1"/>
          <p:nvPr/>
        </p:nvSpPr>
        <p:spPr>
          <a:xfrm>
            <a:off x="6675119" y="6080759"/>
            <a:ext cx="493776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66666"/>
                </a:solidFill>
              </a:defRPr>
            </a:lvl1pPr>
          </a:lstStyle>
          <a:p>
            <a:pPr/>
            <a:r>
              <a:t>Model Karsilastirma Grafigi</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9"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410"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411"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Adim 6 — Feature Importance &amp; Residual Analizi</a:t>
            </a:r>
          </a:p>
        </p:txBody>
      </p:sp>
      <p:sp>
        <p:nvSpPr>
          <p:cNvPr id="412"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Bölüm 11  |  Sonuçlar</a:t>
            </a:r>
          </a:p>
        </p:txBody>
      </p:sp>
      <p:sp>
        <p:nvSpPr>
          <p:cNvPr id="413"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414"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415"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15 / 20</a:t>
            </a:r>
          </a:p>
        </p:txBody>
      </p:sp>
      <p:grpSp>
        <p:nvGrpSpPr>
          <p:cNvPr id="418" name="Rectangle 8"/>
          <p:cNvGrpSpPr/>
          <p:nvPr/>
        </p:nvGrpSpPr>
        <p:grpSpPr>
          <a:xfrm>
            <a:off x="9491073" y="283974"/>
            <a:ext cx="822961" cy="411481"/>
            <a:chOff x="0" y="0"/>
            <a:chExt cx="822960" cy="411480"/>
          </a:xfrm>
        </p:grpSpPr>
        <p:sp>
          <p:nvSpPr>
            <p:cNvPr id="416" name="Dikdörtgen"/>
            <p:cNvSpPr/>
            <p:nvPr/>
          </p:nvSpPr>
          <p:spPr>
            <a:xfrm>
              <a:off x="-1" y="-1"/>
              <a:ext cx="822962" cy="411482"/>
            </a:xfrm>
            <a:prstGeom prst="rect">
              <a:avLst/>
            </a:prstGeom>
            <a:solidFill>
              <a:srgbClr val="2E865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417" name="Adım 6"/>
            <p:cNvSpPr txBox="1"/>
            <p:nvPr/>
          </p:nvSpPr>
          <p:spPr>
            <a:xfrm>
              <a:off x="-1" y="122359"/>
              <a:ext cx="82296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FFFFFF"/>
                  </a:solidFill>
                </a:defRPr>
              </a:lvl1pPr>
            </a:lstStyle>
            <a:p>
              <a:pPr/>
              <a:r>
                <a:t>Adım 6</a:t>
              </a:r>
            </a:p>
          </p:txBody>
        </p:sp>
      </p:grpSp>
      <p:sp>
        <p:nvSpPr>
          <p:cNvPr id="419" name="TextBox 9"/>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Modelin ne öğrendiği ve hata yapısının yorumlanması</a:t>
            </a:r>
          </a:p>
        </p:txBody>
      </p:sp>
      <p:sp>
        <p:nvSpPr>
          <p:cNvPr id="420" name="Rectangle 10"/>
          <p:cNvSpPr/>
          <p:nvPr/>
        </p:nvSpPr>
        <p:spPr>
          <a:xfrm>
            <a:off x="640080" y="1417319"/>
            <a:ext cx="5486401" cy="4206242"/>
          </a:xfrm>
          <a:prstGeom prst="rect">
            <a:avLst/>
          </a:prstGeom>
          <a:solidFill>
            <a:srgbClr val="FFFFFF"/>
          </a:solidFill>
          <a:ln w="6350">
            <a:solidFill>
              <a:srgbClr val="D0D0D7"/>
            </a:solidFill>
          </a:ln>
        </p:spPr>
        <p:txBody>
          <a:bodyPr lIns="45719" rIns="45719" anchor="ctr"/>
          <a:lstStyle/>
          <a:p>
            <a:pPr algn="ctr">
              <a:defRPr>
                <a:solidFill>
                  <a:srgbClr val="FFFFFF"/>
                </a:solidFill>
              </a:defRPr>
            </a:pPr>
          </a:p>
        </p:txBody>
      </p:sp>
      <p:pic>
        <p:nvPicPr>
          <p:cNvPr id="421" name="Picture 11" descr="Picture 11"/>
          <p:cNvPicPr>
            <a:picLocks noChangeAspect="1"/>
          </p:cNvPicPr>
          <p:nvPr/>
        </p:nvPicPr>
        <p:blipFill>
          <a:blip r:embed="rId2">
            <a:extLst/>
          </a:blip>
          <a:stretch>
            <a:fillRect/>
          </a:stretch>
        </p:blipFill>
        <p:spPr>
          <a:xfrm>
            <a:off x="777240" y="1554480"/>
            <a:ext cx="5212080" cy="3931921"/>
          </a:xfrm>
          <a:prstGeom prst="rect">
            <a:avLst/>
          </a:prstGeom>
          <a:ln w="12700">
            <a:miter lim="400000"/>
          </a:ln>
        </p:spPr>
      </p:pic>
      <p:sp>
        <p:nvSpPr>
          <p:cNvPr id="422" name="TextBox 12"/>
          <p:cNvSpPr txBox="1"/>
          <p:nvPr/>
        </p:nvSpPr>
        <p:spPr>
          <a:xfrm>
            <a:off x="640080" y="5486400"/>
            <a:ext cx="5486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66666"/>
                </a:solidFill>
              </a:defRPr>
            </a:lvl1pPr>
          </a:lstStyle>
          <a:p>
            <a:pPr/>
            <a:r>
              <a:t>GBT - Feature Importance (en iyi model)</a:t>
            </a:r>
          </a:p>
        </p:txBody>
      </p:sp>
      <p:sp>
        <p:nvSpPr>
          <p:cNvPr id="423" name="Rectangle 13"/>
          <p:cNvSpPr/>
          <p:nvPr/>
        </p:nvSpPr>
        <p:spPr>
          <a:xfrm>
            <a:off x="6355079" y="1417319"/>
            <a:ext cx="5303521" cy="4206242"/>
          </a:xfrm>
          <a:prstGeom prst="rect">
            <a:avLst/>
          </a:prstGeom>
          <a:solidFill>
            <a:srgbClr val="FFFFFF"/>
          </a:solidFill>
          <a:ln w="6350">
            <a:solidFill>
              <a:srgbClr val="D0D0D7"/>
            </a:solidFill>
          </a:ln>
        </p:spPr>
        <p:txBody>
          <a:bodyPr lIns="45719" rIns="45719" anchor="ctr"/>
          <a:lstStyle/>
          <a:p>
            <a:pPr algn="ctr">
              <a:defRPr>
                <a:solidFill>
                  <a:srgbClr val="FFFFFF"/>
                </a:solidFill>
              </a:defRPr>
            </a:pPr>
          </a:p>
        </p:txBody>
      </p:sp>
      <p:pic>
        <p:nvPicPr>
          <p:cNvPr id="424" name="Picture 14" descr="Picture 14"/>
          <p:cNvPicPr>
            <a:picLocks noChangeAspect="1"/>
          </p:cNvPicPr>
          <p:nvPr/>
        </p:nvPicPr>
        <p:blipFill>
          <a:blip r:embed="rId3">
            <a:extLst/>
          </a:blip>
          <a:stretch>
            <a:fillRect/>
          </a:stretch>
        </p:blipFill>
        <p:spPr>
          <a:xfrm>
            <a:off x="6492240" y="1554480"/>
            <a:ext cx="5029201" cy="3931921"/>
          </a:xfrm>
          <a:prstGeom prst="rect">
            <a:avLst/>
          </a:prstGeom>
          <a:ln w="12700">
            <a:miter lim="400000"/>
          </a:ln>
        </p:spPr>
      </p:pic>
      <p:sp>
        <p:nvSpPr>
          <p:cNvPr id="425" name="TextBox 15"/>
          <p:cNvSpPr txBox="1"/>
          <p:nvPr/>
        </p:nvSpPr>
        <p:spPr>
          <a:xfrm>
            <a:off x="6355079" y="5486400"/>
            <a:ext cx="53035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66666"/>
                </a:solidFill>
              </a:defRPr>
            </a:lvl1pPr>
          </a:lstStyle>
          <a:p>
            <a:pPr/>
            <a:r>
              <a:t>GBT - Residual Dagilimi</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428"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429"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MLflow ile Deney Takibi</a:t>
            </a:r>
          </a:p>
        </p:txBody>
      </p:sp>
      <p:sp>
        <p:nvSpPr>
          <p:cNvPr id="430"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Bölüm 12  |  MLOps</a:t>
            </a:r>
          </a:p>
        </p:txBody>
      </p:sp>
      <p:sp>
        <p:nvSpPr>
          <p:cNvPr id="431"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432"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433"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16 / 20</a:t>
            </a:r>
          </a:p>
        </p:txBody>
      </p:sp>
      <p:sp>
        <p:nvSpPr>
          <p:cNvPr id="434" name="TextBox 8"/>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Tüm modeller MLflow üzerinde tek bir deneme altında loglandı</a:t>
            </a:r>
          </a:p>
        </p:txBody>
      </p:sp>
      <p:sp>
        <p:nvSpPr>
          <p:cNvPr id="435" name="TextBox 9"/>
          <p:cNvSpPr txBox="1"/>
          <p:nvPr/>
        </p:nvSpPr>
        <p:spPr>
          <a:xfrm>
            <a:off x="640080" y="1417319"/>
            <a:ext cx="5943601"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Ne Logladık?</a:t>
            </a:r>
          </a:p>
        </p:txBody>
      </p:sp>
      <p:sp>
        <p:nvSpPr>
          <p:cNvPr id="436" name="TextBox 10"/>
          <p:cNvSpPr txBox="1"/>
          <p:nvPr/>
        </p:nvSpPr>
        <p:spPr>
          <a:xfrm>
            <a:off x="822960" y="1828800"/>
            <a:ext cx="5943601" cy="15229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300">
                <a:solidFill>
                  <a:srgbClr val="2E865F"/>
                </a:solidFill>
              </a:defRPr>
            </a:pPr>
            <a:r>
              <a:t>■  </a:t>
            </a:r>
            <a:r>
              <a:rPr b="0">
                <a:solidFill>
                  <a:srgbClr val="222222"/>
                </a:solidFill>
              </a:rPr>
              <a:t>Parametreler: model adı, maxIter, maxDepth, numTrees, regParam, stepSize vb.</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Metrikler: RMSE, MAE, R^2 (her run için ayrı ayrı).</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Artifaktlar: eğitilmiş modeller, feature importance CSV/PNG dosyaları.</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Karşılaştırma: MLflow UI üzerinde 5 run yan yana incelendi.</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Tracking URI: http://localhost:5001 (host)  /  http://mlflow:5000 (içerden).</a:t>
            </a:r>
          </a:p>
        </p:txBody>
      </p:sp>
      <p:sp>
        <p:nvSpPr>
          <p:cNvPr id="437" name="TextBox 11"/>
          <p:cNvSpPr txBox="1"/>
          <p:nvPr/>
        </p:nvSpPr>
        <p:spPr>
          <a:xfrm>
            <a:off x="640080" y="4663440"/>
            <a:ext cx="59436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Neden MLflow?</a:t>
            </a:r>
          </a:p>
        </p:txBody>
      </p:sp>
      <p:sp>
        <p:nvSpPr>
          <p:cNvPr id="438" name="TextBox 12"/>
          <p:cNvSpPr txBox="1"/>
          <p:nvPr/>
        </p:nvSpPr>
        <p:spPr>
          <a:xfrm>
            <a:off x="822960" y="5074920"/>
            <a:ext cx="5943601" cy="8663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300">
                <a:solidFill>
                  <a:srgbClr val="2E865F"/>
                </a:solidFill>
              </a:defRPr>
            </a:pPr>
            <a:r>
              <a:t>■  </a:t>
            </a:r>
            <a:r>
              <a:rPr b="0">
                <a:solidFill>
                  <a:srgbClr val="222222"/>
                </a:solidFill>
              </a:rPr>
              <a:t>Modellerin tekrarlanabilir bir biçimde versiyonlanması.</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Hyperparametre ile metrik ilişkisinin görselleştirilmesi.</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Endustriyel MLOps standartlarina uygun deney yönetimi.</a:t>
            </a:r>
          </a:p>
        </p:txBody>
      </p:sp>
      <p:sp>
        <p:nvSpPr>
          <p:cNvPr id="439" name="Rectangle 13"/>
          <p:cNvSpPr/>
          <p:nvPr/>
        </p:nvSpPr>
        <p:spPr>
          <a:xfrm>
            <a:off x="6858000" y="1417319"/>
            <a:ext cx="4754880" cy="4572001"/>
          </a:xfrm>
          <a:prstGeom prst="rect">
            <a:avLst/>
          </a:prstGeom>
          <a:solidFill>
            <a:srgbClr val="F5F5F7"/>
          </a:solidFill>
          <a:ln w="12700">
            <a:miter lim="400000"/>
          </a:ln>
        </p:spPr>
        <p:txBody>
          <a:bodyPr lIns="45719" rIns="45719" anchor="ctr"/>
          <a:lstStyle/>
          <a:p>
            <a:pPr algn="ctr">
              <a:defRPr>
                <a:solidFill>
                  <a:srgbClr val="FFFFFF"/>
                </a:solidFill>
              </a:defRPr>
            </a:pPr>
          </a:p>
        </p:txBody>
      </p:sp>
      <p:pic>
        <p:nvPicPr>
          <p:cNvPr id="440" name="Picture 14" descr="Picture 14"/>
          <p:cNvPicPr>
            <a:picLocks noChangeAspect="1"/>
          </p:cNvPicPr>
          <p:nvPr/>
        </p:nvPicPr>
        <p:blipFill>
          <a:blip r:embed="rId2">
            <a:extLst/>
          </a:blip>
          <a:stretch>
            <a:fillRect/>
          </a:stretch>
        </p:blipFill>
        <p:spPr>
          <a:xfrm>
            <a:off x="6949440" y="1508760"/>
            <a:ext cx="4572001" cy="4023360"/>
          </a:xfrm>
          <a:prstGeom prst="rect">
            <a:avLst/>
          </a:prstGeom>
          <a:ln w="12700">
            <a:miter lim="400000"/>
          </a:ln>
        </p:spPr>
      </p:pic>
      <p:sp>
        <p:nvSpPr>
          <p:cNvPr id="441" name="TextBox 15"/>
          <p:cNvSpPr txBox="1"/>
          <p:nvPr/>
        </p:nvSpPr>
        <p:spPr>
          <a:xfrm>
            <a:off x="6858000" y="5577840"/>
            <a:ext cx="47548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66666"/>
                </a:solidFill>
              </a:defRPr>
            </a:lvl1pPr>
          </a:lstStyle>
          <a:p>
            <a:pPr/>
            <a:r>
              <a:t>MLflow Deney Ekrani</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3"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444"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445"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Adim 7 — Dashboard ve Görselleştirme</a:t>
            </a:r>
          </a:p>
        </p:txBody>
      </p:sp>
      <p:sp>
        <p:nvSpPr>
          <p:cNvPr id="446"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Bölüm 13  |  Sunum Katmanı</a:t>
            </a:r>
          </a:p>
        </p:txBody>
      </p:sp>
      <p:sp>
        <p:nvSpPr>
          <p:cNvPr id="447"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448"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449"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17 / 20</a:t>
            </a:r>
          </a:p>
        </p:txBody>
      </p:sp>
      <p:grpSp>
        <p:nvGrpSpPr>
          <p:cNvPr id="452" name="Rectangle 8"/>
          <p:cNvGrpSpPr/>
          <p:nvPr/>
        </p:nvGrpSpPr>
        <p:grpSpPr>
          <a:xfrm>
            <a:off x="9143461" y="189358"/>
            <a:ext cx="822961" cy="411481"/>
            <a:chOff x="0" y="0"/>
            <a:chExt cx="822960" cy="411480"/>
          </a:xfrm>
        </p:grpSpPr>
        <p:sp>
          <p:nvSpPr>
            <p:cNvPr id="450" name="Dikdörtgen"/>
            <p:cNvSpPr/>
            <p:nvPr/>
          </p:nvSpPr>
          <p:spPr>
            <a:xfrm>
              <a:off x="-1" y="-1"/>
              <a:ext cx="822962" cy="411482"/>
            </a:xfrm>
            <a:prstGeom prst="rect">
              <a:avLst/>
            </a:prstGeom>
            <a:solidFill>
              <a:srgbClr val="2E865F"/>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451" name="Adım 7"/>
            <p:cNvSpPr txBox="1"/>
            <p:nvPr/>
          </p:nvSpPr>
          <p:spPr>
            <a:xfrm>
              <a:off x="-1" y="122359"/>
              <a:ext cx="822962" cy="1667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300">
                  <a:solidFill>
                    <a:srgbClr val="FFFFFF"/>
                  </a:solidFill>
                </a:defRPr>
              </a:lvl1pPr>
            </a:lstStyle>
            <a:p>
              <a:pPr/>
              <a:r>
                <a:t>Adım 7</a:t>
              </a:r>
            </a:p>
          </p:txBody>
        </p:sp>
      </p:grpSp>
      <p:sp>
        <p:nvSpPr>
          <p:cNvPr id="453" name="TextBox 9"/>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dashboard/index.html — interaktif ve göz önünde özet</a:t>
            </a:r>
          </a:p>
        </p:txBody>
      </p:sp>
      <p:sp>
        <p:nvSpPr>
          <p:cNvPr id="454" name="TextBox 10"/>
          <p:cNvSpPr txBox="1"/>
          <p:nvPr/>
        </p:nvSpPr>
        <p:spPr>
          <a:xfrm>
            <a:off x="640080" y="1417319"/>
            <a:ext cx="5486401"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Dashboard İçeriği</a:t>
            </a:r>
          </a:p>
        </p:txBody>
      </p:sp>
      <p:sp>
        <p:nvSpPr>
          <p:cNvPr id="455" name="TextBox 11"/>
          <p:cNvSpPr txBox="1"/>
          <p:nvPr/>
        </p:nvSpPr>
        <p:spPr>
          <a:xfrm>
            <a:off x="822960" y="1828800"/>
            <a:ext cx="5486401" cy="18513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300">
                <a:solidFill>
                  <a:srgbClr val="2E865F"/>
                </a:solidFill>
              </a:defRPr>
            </a:pPr>
            <a:r>
              <a:t>■  </a:t>
            </a:r>
            <a:r>
              <a:rPr b="0">
                <a:solidFill>
                  <a:srgbClr val="222222"/>
                </a:solidFill>
              </a:rPr>
              <a:t>5 modelin performans karşılaştırma grafiği (grouped bar).</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En iyi modelin feature importance grafiği (horizontal bar).</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Actual vs Predicted scatter plot grafikleri.</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Residual dağılım grafiği.</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EDA bulguları: popularity dağılımı, korelasyon matrisi, genre, tempo bucket.</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Delta Lake katman özet tablosu.</a:t>
            </a:r>
          </a:p>
        </p:txBody>
      </p:sp>
      <p:sp>
        <p:nvSpPr>
          <p:cNvPr id="456" name="TextBox 12"/>
          <p:cNvSpPr txBox="1"/>
          <p:nvPr/>
        </p:nvSpPr>
        <p:spPr>
          <a:xfrm>
            <a:off x="640080" y="4983479"/>
            <a:ext cx="5486401"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Erişim</a:t>
            </a:r>
          </a:p>
        </p:txBody>
      </p:sp>
      <p:sp>
        <p:nvSpPr>
          <p:cNvPr id="457" name="TextBox 13"/>
          <p:cNvSpPr txBox="1"/>
          <p:nvPr/>
        </p:nvSpPr>
        <p:spPr>
          <a:xfrm>
            <a:off x="822960" y="5394959"/>
            <a:ext cx="5486401" cy="11275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200">
                <a:solidFill>
                  <a:srgbClr val="2E865F"/>
                </a:solidFill>
              </a:defRPr>
            </a:pPr>
            <a:r>
              <a:t>■  </a:t>
            </a:r>
            <a:r>
              <a:rPr b="0">
                <a:solidFill>
                  <a:srgbClr val="222222"/>
                </a:solidFill>
              </a:rPr>
              <a:t>dashboard/index.html — Ana dashboard sayfası.</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dashboard/assets/eda — EDA görselleri.</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dashboard/assets/ml  — Model görselleri.</a:t>
            </a:r>
            <a:endParaRPr b="0">
              <a:solidFill>
                <a:srgbClr val="222222"/>
              </a:solidFill>
            </a:endParaRPr>
          </a:p>
          <a:p>
            <a:pPr>
              <a:lnSpc>
                <a:spcPct val="115000"/>
              </a:lnSpc>
              <a:spcBef>
                <a:spcPts val="400"/>
              </a:spcBef>
              <a:defRPr b="1" sz="1200">
                <a:solidFill>
                  <a:srgbClr val="2E865F"/>
                </a:solidFill>
              </a:defRPr>
            </a:pPr>
            <a:r>
              <a:t>■  </a:t>
            </a:r>
            <a:r>
              <a:rPr b="0">
                <a:solidFill>
                  <a:srgbClr val="222222"/>
                </a:solidFill>
              </a:rPr>
              <a:t>Komut: start dashboard\index.html (Windows) / open dashboard/index.html (macOS).</a:t>
            </a:r>
          </a:p>
        </p:txBody>
      </p:sp>
      <p:sp>
        <p:nvSpPr>
          <p:cNvPr id="458" name="Rectangle 14"/>
          <p:cNvSpPr/>
          <p:nvPr/>
        </p:nvSpPr>
        <p:spPr>
          <a:xfrm>
            <a:off x="6583680" y="1417319"/>
            <a:ext cx="5029201" cy="2651762"/>
          </a:xfrm>
          <a:prstGeom prst="rect">
            <a:avLst/>
          </a:prstGeom>
          <a:solidFill>
            <a:srgbClr val="FFFFFF"/>
          </a:solidFill>
          <a:ln w="6350">
            <a:solidFill>
              <a:srgbClr val="D0D0D7"/>
            </a:solidFill>
          </a:ln>
        </p:spPr>
        <p:txBody>
          <a:bodyPr lIns="45719" rIns="45719" anchor="ctr"/>
          <a:lstStyle/>
          <a:p>
            <a:pPr algn="ctr">
              <a:defRPr>
                <a:solidFill>
                  <a:srgbClr val="FFFFFF"/>
                </a:solidFill>
              </a:defRPr>
            </a:pPr>
          </a:p>
        </p:txBody>
      </p:sp>
      <p:pic>
        <p:nvPicPr>
          <p:cNvPr id="459" name="Picture 15" descr="Picture 15"/>
          <p:cNvPicPr>
            <a:picLocks noChangeAspect="1"/>
          </p:cNvPicPr>
          <p:nvPr/>
        </p:nvPicPr>
        <p:blipFill>
          <a:blip r:embed="rId2">
            <a:extLst/>
          </a:blip>
          <a:stretch>
            <a:fillRect/>
          </a:stretch>
        </p:blipFill>
        <p:spPr>
          <a:xfrm>
            <a:off x="6675119" y="1508760"/>
            <a:ext cx="4846321" cy="2468880"/>
          </a:xfrm>
          <a:prstGeom prst="rect">
            <a:avLst/>
          </a:prstGeom>
          <a:ln w="12700">
            <a:miter lim="400000"/>
          </a:ln>
        </p:spPr>
      </p:pic>
      <p:sp>
        <p:nvSpPr>
          <p:cNvPr id="460" name="TextBox 16"/>
          <p:cNvSpPr txBox="1"/>
          <p:nvPr/>
        </p:nvSpPr>
        <p:spPr>
          <a:xfrm>
            <a:off x="6583680" y="3931920"/>
            <a:ext cx="5029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66666"/>
                </a:solidFill>
              </a:defRPr>
            </a:lvl1pPr>
          </a:lstStyle>
          <a:p>
            <a:pPr/>
            <a:r>
              <a:t>Actual vs Predicted (GBT)</a:t>
            </a:r>
          </a:p>
        </p:txBody>
      </p:sp>
      <p:sp>
        <p:nvSpPr>
          <p:cNvPr id="461" name="Rectangle 17"/>
          <p:cNvSpPr/>
          <p:nvPr/>
        </p:nvSpPr>
        <p:spPr>
          <a:xfrm>
            <a:off x="6583680" y="4160520"/>
            <a:ext cx="5029201" cy="2194561"/>
          </a:xfrm>
          <a:prstGeom prst="rect">
            <a:avLst/>
          </a:prstGeom>
          <a:solidFill>
            <a:srgbClr val="FFFFFF"/>
          </a:solidFill>
          <a:ln w="6350">
            <a:solidFill>
              <a:srgbClr val="D0D0D7"/>
            </a:solidFill>
          </a:ln>
        </p:spPr>
        <p:txBody>
          <a:bodyPr lIns="45719" rIns="45719" anchor="ctr"/>
          <a:lstStyle/>
          <a:p>
            <a:pPr algn="ctr">
              <a:defRPr>
                <a:solidFill>
                  <a:srgbClr val="FFFFFF"/>
                </a:solidFill>
              </a:defRPr>
            </a:pPr>
          </a:p>
        </p:txBody>
      </p:sp>
      <p:pic>
        <p:nvPicPr>
          <p:cNvPr id="462" name="Picture 18" descr="Picture 18"/>
          <p:cNvPicPr>
            <a:picLocks noChangeAspect="1"/>
          </p:cNvPicPr>
          <p:nvPr/>
        </p:nvPicPr>
        <p:blipFill>
          <a:blip r:embed="rId3">
            <a:extLst/>
          </a:blip>
          <a:stretch>
            <a:fillRect/>
          </a:stretch>
        </p:blipFill>
        <p:spPr>
          <a:xfrm>
            <a:off x="6675119" y="4251959"/>
            <a:ext cx="4846321" cy="2011681"/>
          </a:xfrm>
          <a:prstGeom prst="rect">
            <a:avLst/>
          </a:prstGeom>
          <a:ln w="12700">
            <a:miter lim="400000"/>
          </a:ln>
        </p:spPr>
      </p:pic>
      <p:sp>
        <p:nvSpPr>
          <p:cNvPr id="463" name="TextBox 19"/>
          <p:cNvSpPr txBox="1"/>
          <p:nvPr/>
        </p:nvSpPr>
        <p:spPr>
          <a:xfrm>
            <a:off x="6583680" y="6217920"/>
            <a:ext cx="5029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666666"/>
                </a:solidFill>
              </a:defRPr>
            </a:lvl1pPr>
          </a:lstStyle>
          <a:p>
            <a:pPr/>
            <a:r>
              <a:t>Popularity Dagilimi</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5"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466"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467"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Karşılaşılan Zorluklar ve Çözümler</a:t>
            </a:r>
          </a:p>
        </p:txBody>
      </p:sp>
      <p:sp>
        <p:nvSpPr>
          <p:cNvPr id="468"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Bölüm 14  |  Değerlendirme</a:t>
            </a:r>
          </a:p>
        </p:txBody>
      </p:sp>
      <p:sp>
        <p:nvSpPr>
          <p:cNvPr id="469"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470"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471"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18 / 20</a:t>
            </a:r>
          </a:p>
        </p:txBody>
      </p:sp>
      <p:sp>
        <p:nvSpPr>
          <p:cNvPr id="472" name="TextBox 8"/>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Geliştirme sürecinde yaşanan teknik problemler</a:t>
            </a:r>
          </a:p>
        </p:txBody>
      </p:sp>
      <p:graphicFrame>
        <p:nvGraphicFramePr>
          <p:cNvPr id="473" name="Table 9"/>
          <p:cNvGraphicFramePr/>
          <p:nvPr/>
        </p:nvGraphicFramePr>
        <p:xfrm>
          <a:off x="640080" y="1463039"/>
          <a:ext cx="10911535" cy="4572001"/>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5455767"/>
                <a:gridCol w="5455768"/>
              </a:tblGrid>
              <a:tr h="762000">
                <a:tc>
                  <a:txBody>
                    <a:bodyPr/>
                    <a:lstStyle/>
                    <a:p>
                      <a:pPr algn="ctr">
                        <a:defRPr b="0" sz="1800">
                          <a:solidFill>
                            <a:srgbClr val="000000"/>
                          </a:solidFill>
                        </a:defRPr>
                      </a:pPr>
                      <a:r>
                        <a:rPr b="1" sz="1300">
                          <a:solidFill>
                            <a:srgbClr val="FFFFFF"/>
                          </a:solidFill>
                        </a:rPr>
                        <a:t>Zorluk</a:t>
                      </a:r>
                    </a:p>
                  </a:txBody>
                  <a:tcPr marL="36576" marR="36576" marT="36576" marB="36576" anchor="t" anchorCtr="0" horzOverflow="overflow">
                    <a:solidFill>
                      <a:srgbClr val="1F3A5F"/>
                    </a:solidFill>
                  </a:tcPr>
                </a:tc>
                <a:tc>
                  <a:txBody>
                    <a:bodyPr/>
                    <a:lstStyle/>
                    <a:p>
                      <a:pPr algn="ctr">
                        <a:defRPr b="0" sz="1800">
                          <a:solidFill>
                            <a:srgbClr val="000000"/>
                          </a:solidFill>
                        </a:defRPr>
                      </a:pPr>
                      <a:r>
                        <a:rPr b="1" sz="1300">
                          <a:solidFill>
                            <a:srgbClr val="FFFFFF"/>
                          </a:solidFill>
                        </a:rPr>
                        <a:t>Çözüm</a:t>
                      </a:r>
                    </a:p>
                  </a:txBody>
                  <a:tcPr marL="36576" marR="36576" marT="36576" marB="36576" anchor="t" anchorCtr="0" horzOverflow="overflow">
                    <a:solidFill>
                      <a:srgbClr val="1F3A5F"/>
                    </a:solidFill>
                  </a:tcPr>
                </a:tc>
              </a:tr>
              <a:tr h="762000">
                <a:tc>
                  <a:txBody>
                    <a:bodyPr/>
                    <a:lstStyle/>
                    <a:p>
                      <a:pPr algn="l">
                        <a:defRPr sz="1800"/>
                      </a:pPr>
                      <a:r>
                        <a:rPr sz="1200">
                          <a:solidFill>
                            <a:srgbClr val="222222"/>
                          </a:solidFill>
                        </a:rPr>
                        <a:t>Docker Desktop daemon kapalı olduğunda Docker API hata veriyordu.</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Çalıştırmadan önce Docker Desktop'in açık olduğu kontrol edildi.</a:t>
                      </a:r>
                    </a:p>
                  </a:txBody>
                  <a:tcPr marL="36576" marR="36576" marT="36576" marB="36576" anchor="t" anchorCtr="0" horzOverflow="overflow">
                    <a:solidFill>
                      <a:srgbClr val="FFFFFF"/>
                    </a:solidFill>
                  </a:tcPr>
                </a:tc>
              </a:tr>
              <a:tr h="762000">
                <a:tc>
                  <a:txBody>
                    <a:bodyPr/>
                    <a:lstStyle/>
                    <a:p>
                      <a:pPr algn="l">
                        <a:defRPr sz="1800"/>
                      </a:pPr>
                      <a:r>
                        <a:rPr sz="1200">
                          <a:solidFill>
                            <a:srgbClr val="222222"/>
                          </a:solidFill>
                        </a:rPr>
                        <a:t>Kafka broker hazır olmadan producer başlamıadığında NoBrokersAvailable hatası.</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Producer tarafinda wait_for_kafka() retry mekanizması eklendi.</a:t>
                      </a:r>
                    </a:p>
                  </a:txBody>
                  <a:tcPr marL="36576" marR="36576" marT="36576" marB="36576" anchor="t" anchorCtr="0" horzOverflow="overflow">
                    <a:solidFill>
                      <a:srgbClr val="F5F5F7"/>
                    </a:solidFill>
                  </a:tcPr>
                </a:tc>
              </a:tr>
              <a:tr h="762000">
                <a:tc>
                  <a:txBody>
                    <a:bodyPr/>
                    <a:lstStyle/>
                    <a:p>
                      <a:pPr algn="l">
                        <a:defRPr sz="1800"/>
                      </a:pPr>
                      <a:r>
                        <a:rPr sz="1200">
                          <a:solidFill>
                            <a:srgbClr val="222222"/>
                          </a:solidFill>
                        </a:rPr>
                        <a:t>Spark ilk çalıştırmada Maven paketlerini indirdiği için uzun sürüyor.</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Paketler --packages ile cache'lendi, sonraki çalıştırmalar hızlı oldu.</a:t>
                      </a:r>
                    </a:p>
                  </a:txBody>
                  <a:tcPr marL="36576" marR="36576" marT="36576" marB="36576" anchor="t" anchorCtr="0" horzOverflow="overflow">
                    <a:solidFill>
                      <a:srgbClr val="FFFFFF"/>
                    </a:solidFill>
                  </a:tcPr>
                </a:tc>
              </a:tr>
              <a:tr h="762000">
                <a:tc>
                  <a:txBody>
                    <a:bodyPr/>
                    <a:lstStyle/>
                    <a:p>
                      <a:pPr algn="l">
                        <a:defRPr sz="1800"/>
                      </a:pPr>
                      <a:r>
                        <a:rPr sz="1200">
                          <a:solidFill>
                            <a:srgbClr val="222222"/>
                          </a:solidFill>
                        </a:rPr>
                        <a:t>PowerShell'de çok satırlı komutlarda satır devam karakteri sorunu.</a:t>
                      </a:r>
                    </a:p>
                  </a:txBody>
                  <a:tcPr marL="36576" marR="36576" marT="36576" marB="36576" anchor="t" anchorCtr="0" horzOverflow="overflow">
                    <a:solidFill>
                      <a:srgbClr val="F5F5F7"/>
                    </a:solidFill>
                  </a:tcPr>
                </a:tc>
                <a:tc>
                  <a:txBody>
                    <a:bodyPr/>
                    <a:lstStyle/>
                    <a:p>
                      <a:pPr algn="ctr">
                        <a:defRPr sz="1800"/>
                      </a:pPr>
                      <a:r>
                        <a:rPr sz="1200">
                          <a:solidFill>
                            <a:srgbClr val="222222"/>
                          </a:solidFill>
                        </a:rPr>
                        <a:t>Backtick (`) kullanildi, .ps1 ve .sh dosyaları ayrıldı.</a:t>
                      </a:r>
                    </a:p>
                  </a:txBody>
                  <a:tcPr marL="36576" marR="36576" marT="36576" marB="36576" anchor="t" anchorCtr="0" horzOverflow="overflow">
                    <a:solidFill>
                      <a:srgbClr val="F5F5F7"/>
                    </a:solidFill>
                  </a:tcPr>
                </a:tc>
              </a:tr>
              <a:tr h="762000">
                <a:tc>
                  <a:txBody>
                    <a:bodyPr/>
                    <a:lstStyle/>
                    <a:p>
                      <a:pPr algn="l">
                        <a:defRPr sz="1800"/>
                      </a:pPr>
                      <a:r>
                        <a:rPr sz="1200">
                          <a:solidFill>
                            <a:srgbClr val="222222"/>
                          </a:solidFill>
                        </a:rPr>
                        <a:t>Streaming joblarinin paralel çalışması terminalde takip gerektiriyordu.</a:t>
                      </a:r>
                    </a:p>
                  </a:txBody>
                  <a:tcPr marL="36576" marR="36576" marT="36576" marB="36576" anchor="t" anchorCtr="0" horzOverflow="overflow">
                    <a:solidFill>
                      <a:srgbClr val="FFFFFF"/>
                    </a:solidFill>
                  </a:tcPr>
                </a:tc>
                <a:tc>
                  <a:txBody>
                    <a:bodyPr/>
                    <a:lstStyle/>
                    <a:p>
                      <a:pPr algn="ctr">
                        <a:defRPr sz="1800"/>
                      </a:pPr>
                      <a:r>
                        <a:rPr sz="1200">
                          <a:solidFill>
                            <a:srgbClr val="222222"/>
                          </a:solidFill>
                        </a:rPr>
                        <a:t>scripts/ altında her katman için ayrı run_*_stream.sh hazırlandı.</a:t>
                      </a:r>
                    </a:p>
                  </a:txBody>
                  <a:tcPr marL="36576" marR="36576" marT="36576" marB="36576" anchor="t" anchorCtr="0" horzOverflow="overflow">
                    <a:solidFill>
                      <a:srgbClr val="FFFFFF"/>
                    </a:solidFill>
                  </a:tcPr>
                </a:tc>
              </a:tr>
            </a:tbl>
          </a:graphicData>
        </a:graphic>
      </p:graphicFrame>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5" name="Rectangle 1"/>
          <p:cNvSpPr/>
          <p:nvPr/>
        </p:nvSpPr>
        <p:spPr>
          <a:xfrm>
            <a:off x="-1" y="-1"/>
            <a:ext cx="12191697" cy="822962"/>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476" name="Rectangle 2"/>
          <p:cNvSpPr/>
          <p:nvPr/>
        </p:nvSpPr>
        <p:spPr>
          <a:xfrm>
            <a:off x="0" y="822959"/>
            <a:ext cx="109728" cy="6035042"/>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477" name="TextBox 3"/>
          <p:cNvSpPr txBox="1"/>
          <p:nvPr/>
        </p:nvSpPr>
        <p:spPr>
          <a:xfrm>
            <a:off x="365759" y="288397"/>
            <a:ext cx="9905697" cy="3010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defRPr>
            </a:lvl1pPr>
          </a:lstStyle>
          <a:p>
            <a:pPr/>
            <a:r>
              <a:t>Sonuç ve Çıkarımlar</a:t>
            </a:r>
          </a:p>
        </p:txBody>
      </p:sp>
      <p:sp>
        <p:nvSpPr>
          <p:cNvPr id="478" name="TextBox 4"/>
          <p:cNvSpPr txBox="1"/>
          <p:nvPr/>
        </p:nvSpPr>
        <p:spPr>
          <a:xfrm>
            <a:off x="9265615" y="360479"/>
            <a:ext cx="256032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200">
                <a:solidFill>
                  <a:srgbClr val="FFFFFF"/>
                </a:solidFill>
              </a:defRPr>
            </a:lvl1pPr>
          </a:lstStyle>
          <a:p>
            <a:pPr/>
            <a:r>
              <a:t>Bölüm 15  |  Kapanış</a:t>
            </a:r>
          </a:p>
        </p:txBody>
      </p:sp>
      <p:sp>
        <p:nvSpPr>
          <p:cNvPr id="479" name="Rectangle 5"/>
          <p:cNvSpPr/>
          <p:nvPr/>
        </p:nvSpPr>
        <p:spPr>
          <a:xfrm>
            <a:off x="365760" y="6444170"/>
            <a:ext cx="11460175" cy="12701"/>
          </a:xfrm>
          <a:prstGeom prst="rect">
            <a:avLst/>
          </a:prstGeom>
          <a:solidFill>
            <a:srgbClr val="D0D0D7"/>
          </a:solidFill>
          <a:ln w="12700">
            <a:miter lim="400000"/>
          </a:ln>
        </p:spPr>
        <p:txBody>
          <a:bodyPr lIns="45719" rIns="45719" anchor="ctr"/>
          <a:lstStyle/>
          <a:p>
            <a:pPr algn="ctr">
              <a:defRPr>
                <a:solidFill>
                  <a:srgbClr val="FFFFFF"/>
                </a:solidFill>
              </a:defRPr>
            </a:pPr>
          </a:p>
        </p:txBody>
      </p:sp>
      <p:sp>
        <p:nvSpPr>
          <p:cNvPr id="480" name="TextBox 6"/>
          <p:cNvSpPr txBox="1"/>
          <p:nvPr/>
        </p:nvSpPr>
        <p:spPr>
          <a:xfrm>
            <a:off x="365759" y="6551721"/>
            <a:ext cx="73152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66666"/>
                </a:solidFill>
              </a:defRPr>
            </a:lvl1pPr>
          </a:lstStyle>
          <a:p>
            <a:pPr/>
            <a:r>
              <a:t>Buyuk Veri Analizine Giris  |  Donem Projesi 2025-2026</a:t>
            </a:r>
          </a:p>
        </p:txBody>
      </p:sp>
      <p:sp>
        <p:nvSpPr>
          <p:cNvPr id="481" name="TextBox 7"/>
          <p:cNvSpPr txBox="1"/>
          <p:nvPr/>
        </p:nvSpPr>
        <p:spPr>
          <a:xfrm>
            <a:off x="9997134" y="6551721"/>
            <a:ext cx="182880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66666"/>
                </a:solidFill>
              </a:defRPr>
            </a:lvl1pPr>
          </a:lstStyle>
          <a:p>
            <a:pPr/>
            <a:r>
              <a:t>19 / 20</a:t>
            </a:r>
          </a:p>
        </p:txBody>
      </p:sp>
      <p:sp>
        <p:nvSpPr>
          <p:cNvPr id="482" name="TextBox 8"/>
          <p:cNvSpPr txBox="1"/>
          <p:nvPr/>
        </p:nvSpPr>
        <p:spPr>
          <a:xfrm>
            <a:off x="365760" y="960119"/>
            <a:ext cx="11460175"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A6B8A"/>
                </a:solidFill>
              </a:defRPr>
            </a:lvl1pPr>
          </a:lstStyle>
          <a:p>
            <a:pPr/>
            <a:r>
              <a:t>Pipeline'in bir bakışta uçan uca değerlendirmesi</a:t>
            </a:r>
          </a:p>
        </p:txBody>
      </p:sp>
      <p:sp>
        <p:nvSpPr>
          <p:cNvPr id="483" name="TextBox 9"/>
          <p:cNvSpPr txBox="1"/>
          <p:nvPr/>
        </p:nvSpPr>
        <p:spPr>
          <a:xfrm>
            <a:off x="640079" y="1417319"/>
            <a:ext cx="10911537" cy="2091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Neler Yapıldı?</a:t>
            </a:r>
          </a:p>
        </p:txBody>
      </p:sp>
      <p:sp>
        <p:nvSpPr>
          <p:cNvPr id="484" name="TextBox 10"/>
          <p:cNvSpPr txBox="1"/>
          <p:nvPr/>
        </p:nvSpPr>
        <p:spPr>
          <a:xfrm>
            <a:off x="822960" y="1828800"/>
            <a:ext cx="10545776" cy="25079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300">
                <a:solidFill>
                  <a:srgbClr val="2E865F"/>
                </a:solidFill>
              </a:defRPr>
            </a:pPr>
            <a:r>
              <a:t>■  </a:t>
            </a:r>
            <a:r>
              <a:rPr b="0">
                <a:solidFill>
                  <a:srgbClr val="222222"/>
                </a:solidFill>
              </a:rPr>
              <a:t>Docker Compose ile 5 servisli izole bir ortam ayağa kaldırıldı.</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Python Producer Spotify CSV verisini Kafka topic'ine JSON formatında akıttı.</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Spark Structured Streaming ile Bronze / Silver / Gold katmanları Delta Lake'te üretildi.</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EDA ile veri ile ilgili istatistik, dağılım ve korelasyon analizleri yapıldı.</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Feature Engineering ile 5+ anlamlı özellik türetilip Gold Features olarak yazıldı.</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5 regresyon modeli eğitildi; en iyi sonuç GBT (RMSE 16.77, R^2 0.42) ile elde edildi.</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MLflow üzerinde tüm runlar ve metrikler loglandı.</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HTML dashboard ve teknik rapor ile sonuçlar görselleştirildi.</a:t>
            </a:r>
          </a:p>
        </p:txBody>
      </p:sp>
      <p:sp>
        <p:nvSpPr>
          <p:cNvPr id="485" name="TextBox 11"/>
          <p:cNvSpPr txBox="1"/>
          <p:nvPr/>
        </p:nvSpPr>
        <p:spPr>
          <a:xfrm>
            <a:off x="640079" y="5120640"/>
            <a:ext cx="1091153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1F3A5F"/>
                </a:solidFill>
              </a:defRPr>
            </a:lvl1pPr>
          </a:lstStyle>
          <a:p>
            <a:pPr/>
            <a:r>
              <a:t>Gelecek Calışmalar</a:t>
            </a:r>
          </a:p>
        </p:txBody>
      </p:sp>
      <p:sp>
        <p:nvSpPr>
          <p:cNvPr id="486" name="TextBox 12"/>
          <p:cNvSpPr txBox="1"/>
          <p:nvPr/>
        </p:nvSpPr>
        <p:spPr>
          <a:xfrm>
            <a:off x="822960" y="5532120"/>
            <a:ext cx="10545776" cy="8663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15000"/>
              </a:lnSpc>
              <a:spcBef>
                <a:spcPts val="400"/>
              </a:spcBef>
              <a:defRPr b="1" sz="1300">
                <a:solidFill>
                  <a:srgbClr val="2E865F"/>
                </a:solidFill>
              </a:defRPr>
            </a:pPr>
            <a:r>
              <a:t>■  </a:t>
            </a:r>
            <a:r>
              <a:rPr b="0">
                <a:solidFill>
                  <a:srgbClr val="222222"/>
                </a:solidFill>
              </a:rPr>
              <a:t>Daha büyük veri kümesi (tüm Spotify Tracks Dataset) ile model yeniden eğitilebilir.</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Hyperparameter tuning (CrossValidator / Optuna) ile GBT modeli daha da iyileşebilir.</a:t>
            </a:r>
            <a:endParaRPr b="0">
              <a:solidFill>
                <a:srgbClr val="222222"/>
              </a:solidFill>
            </a:endParaRPr>
          </a:p>
          <a:p>
            <a:pPr>
              <a:lnSpc>
                <a:spcPct val="115000"/>
              </a:lnSpc>
              <a:spcBef>
                <a:spcPts val="400"/>
              </a:spcBef>
              <a:defRPr b="1" sz="1300">
                <a:solidFill>
                  <a:srgbClr val="2E865F"/>
                </a:solidFill>
              </a:defRPr>
            </a:pPr>
            <a:r>
              <a:t>■  </a:t>
            </a:r>
            <a:r>
              <a:rPr b="0">
                <a:solidFill>
                  <a:srgbClr val="222222"/>
                </a:solidFill>
              </a:rPr>
              <a:t>Gerçek zamanlı tahmin servisi (MLflow model serving) eklenebilir.</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8" name="Rectangle 1"/>
          <p:cNvSpPr/>
          <p:nvPr/>
        </p:nvSpPr>
        <p:spPr>
          <a:xfrm>
            <a:off x="-1" y="0"/>
            <a:ext cx="12191697" cy="6858000"/>
          </a:xfrm>
          <a:prstGeom prst="rect">
            <a:avLst/>
          </a:prstGeom>
          <a:solidFill>
            <a:srgbClr val="1F3A5F"/>
          </a:solidFill>
          <a:ln w="12700">
            <a:miter lim="400000"/>
          </a:ln>
        </p:spPr>
        <p:txBody>
          <a:bodyPr lIns="45719" rIns="45719" anchor="ctr"/>
          <a:lstStyle/>
          <a:p>
            <a:pPr algn="ctr">
              <a:defRPr>
                <a:solidFill>
                  <a:srgbClr val="FFFFFF"/>
                </a:solidFill>
              </a:defRPr>
            </a:pPr>
          </a:p>
        </p:txBody>
      </p:sp>
      <p:sp>
        <p:nvSpPr>
          <p:cNvPr id="489" name="Rectangle 2"/>
          <p:cNvSpPr/>
          <p:nvPr/>
        </p:nvSpPr>
        <p:spPr>
          <a:xfrm>
            <a:off x="-1" y="0"/>
            <a:ext cx="548642" cy="6858000"/>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490" name="TextBox 3"/>
          <p:cNvSpPr txBox="1"/>
          <p:nvPr/>
        </p:nvSpPr>
        <p:spPr>
          <a:xfrm>
            <a:off x="914399" y="2194560"/>
            <a:ext cx="10820097" cy="9157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7200">
                <a:solidFill>
                  <a:srgbClr val="FFFFFF"/>
                </a:solidFill>
              </a:defRPr>
            </a:lvl1pPr>
          </a:lstStyle>
          <a:p>
            <a:pPr/>
            <a:r>
              <a:t>Teşekkürler</a:t>
            </a:r>
          </a:p>
        </p:txBody>
      </p:sp>
      <p:sp>
        <p:nvSpPr>
          <p:cNvPr id="491" name="TextBox 4"/>
          <p:cNvSpPr txBox="1"/>
          <p:nvPr/>
        </p:nvSpPr>
        <p:spPr>
          <a:xfrm>
            <a:off x="914399" y="3566159"/>
            <a:ext cx="10820097" cy="3010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400">
                <a:solidFill>
                  <a:srgbClr val="FFFFFF"/>
                </a:solidFill>
              </a:defRPr>
            </a:lvl1pPr>
          </a:lstStyle>
          <a:p>
            <a:pPr/>
            <a:r>
              <a:t>Sorularınız?</a:t>
            </a:r>
          </a:p>
        </p:txBody>
      </p:sp>
      <p:sp>
        <p:nvSpPr>
          <p:cNvPr id="492" name="Rectangle 5"/>
          <p:cNvSpPr/>
          <p:nvPr/>
        </p:nvSpPr>
        <p:spPr>
          <a:xfrm>
            <a:off x="914400" y="4297679"/>
            <a:ext cx="1828800" cy="20001"/>
          </a:xfrm>
          <a:prstGeom prst="rect">
            <a:avLst/>
          </a:prstGeom>
          <a:solidFill>
            <a:srgbClr val="2E865F"/>
          </a:solidFill>
          <a:ln w="12700">
            <a:miter lim="400000"/>
          </a:ln>
        </p:spPr>
        <p:txBody>
          <a:bodyPr lIns="45719" rIns="45719" anchor="ctr"/>
          <a:lstStyle/>
          <a:p>
            <a:pPr algn="ctr">
              <a:defRPr>
                <a:solidFill>
                  <a:srgbClr val="FFFFFF"/>
                </a:solidFill>
              </a:defRPr>
            </a:pPr>
          </a:p>
        </p:txBody>
      </p:sp>
      <p:sp>
        <p:nvSpPr>
          <p:cNvPr id="493" name="TextBox 6"/>
          <p:cNvSpPr txBox="1"/>
          <p:nvPr/>
        </p:nvSpPr>
        <p:spPr>
          <a:xfrm>
            <a:off x="914399" y="4572000"/>
            <a:ext cx="10820097" cy="1893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CCCCCC"/>
                </a:solidFill>
              </a:defRPr>
            </a:lvl1pPr>
          </a:lstStyle>
          <a:p>
            <a:pPr/>
            <a:r>
              <a:t>Spotify Big Data Pipeline  |  Dönem Projesi</a:t>
            </a:r>
          </a:p>
        </p:txBody>
      </p:sp>
      <p:sp>
        <p:nvSpPr>
          <p:cNvPr id="494" name="TextBox 7"/>
          <p:cNvSpPr txBox="1"/>
          <p:nvPr/>
        </p:nvSpPr>
        <p:spPr>
          <a:xfrm>
            <a:off x="914399" y="6035040"/>
            <a:ext cx="10820097"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solidFill>
                  <a:srgbClr val="AAAAAA"/>
                </a:solidFill>
              </a:defRPr>
            </a:lvl1pPr>
          </a:lstStyle>
          <a:p>
            <a:pPr/>
            <a:r>
              <a:t>Slayt 20 / 20</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